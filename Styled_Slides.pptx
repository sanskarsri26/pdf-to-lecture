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0F8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F5496"/>
                </a:solidFill>
                <a:latin typeface="Calibri"/>
              </a:defRPr>
            </a:pPr>
            <a:r>
              <a:t>Introduction: Nondeterminism by Analogy</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This lecture explores the concept of nondeterminism, a crucial idea in computer science and other fields.  We'll understand it not through abstract definitions, but by examining relatable analogies.  These analogies will show how nondeterminism deals with multiple possibilities simultaneously, rather than following a single predetermined path.  We will examine navigating a maze, internet packet routing, and chess as examples to illustrate different facets of this concept.  The lecture concludes by discussing the implications of nondeterminism in the real world and theoretical computer science.</a:t>
            </a:r>
          </a:p>
        </p:txBody>
      </p:sp>
      <p:sp>
        <p:nvSpPr>
          <p:cNvPr id="4" name="Rectangle 3"/>
          <p:cNvSpPr/>
          <p:nvPr/>
        </p:nvSpPr>
        <p:spPr>
          <a:xfrm>
            <a:off x="182880" y="457200"/>
            <a:ext cx="91440" cy="5943600"/>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5EE"/>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8B4513"/>
                </a:solidFill>
                <a:latin typeface="Calibri"/>
              </a:defRPr>
            </a:pPr>
            <a:r>
              <a:t>Navigating a Maze: Determinism</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Let's consider a deterministic approach to navigating a maze.  Determinism means following a single, pre-defined rule to achieve a goal.  A simple example is a "left-most" strategy: always choose the leftmost path at every junction.  This strategy guarantees success in some mazes (like Maze 2 in the slides), and complete failure in others (like Maze 1).  The key is that a deterministic strategy provides a guaranteed outcome (success or failure) for every instance given the strategy, making the outcome certain.</a:t>
            </a:r>
          </a:p>
        </p:txBody>
      </p:sp>
      <p:sp>
        <p:nvSpPr>
          <p:cNvPr id="4" name="Rectangle 3"/>
          <p:cNvSpPr/>
          <p:nvPr/>
        </p:nvSpPr>
        <p:spPr>
          <a:xfrm>
            <a:off x="182880" y="457200"/>
            <a:ext cx="91440" cy="5943600"/>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FF0"/>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28B22"/>
                </a:solidFill>
                <a:latin typeface="Calibri"/>
              </a:defRPr>
            </a:pPr>
            <a:r>
              <a:t>Navigating a Maze: Nondeterminism</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In contrast to determinism, nondeterminism considers all possible paths simultaneously. When solving a maze nondeterministically, we imagine exploring every path concurrently to determine if a solution exists. In Maze 1 (unsolvable), all paths would be explored, and the nondeterministic approach would correctly identify the lack of a solution.  In Maze 2, at least one solution would be found. Nondeterminism describes the maze's inherent solvability rather than the method used to solve it. It's about the potential for solutions, not a guaranteed path.</a:t>
            </a:r>
          </a:p>
        </p:txBody>
      </p:sp>
      <p:sp>
        <p:nvSpPr>
          <p:cNvPr id="4" name="Rectangle 3"/>
          <p:cNvSpPr/>
          <p:nvPr/>
        </p:nvSpPr>
        <p:spPr>
          <a:xfrm>
            <a:off x="182880" y="457200"/>
            <a:ext cx="91440" cy="5943600"/>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3/9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8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F5496"/>
                </a:solidFill>
                <a:latin typeface="Calibri"/>
              </a:defRPr>
            </a:pPr>
            <a:r>
              <a:t>Routing Packets on the Internet: A Nondeterministic System</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Consider sending a data packet from your computer to a website's server. The packet's journey isn't a single, predetermined path.  The internet's routing protocols explore multiple routes concurrently, choosing the fastest or most reliable available at each step. This is a naturally nondeterministic system because we can't predict which specific route a packet will take in advance.  The system must be prepared for many possibilities and chooses the best amongst them dynamically.</a:t>
            </a:r>
          </a:p>
        </p:txBody>
      </p:sp>
      <p:sp>
        <p:nvSpPr>
          <p:cNvPr id="4" name="Rectangle 3"/>
          <p:cNvSpPr/>
          <p:nvPr/>
        </p:nvSpPr>
        <p:spPr>
          <a:xfrm>
            <a:off x="182880" y="457200"/>
            <a:ext cx="91440" cy="5943600"/>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5EE"/>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8B4513"/>
                </a:solidFill>
                <a:latin typeface="Calibri"/>
              </a:defRPr>
            </a:pPr>
            <a:r>
              <a:t>Planning Moves in Chess: Nondeterministic Strategy</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In chess, planning your moves requires considering your opponent's potential responses.  A nondeterministic approach would involve creating a game tree – a tree-like structure exploring all possible moves and counter-moves. Although we can't know with certainty what the opponent will do, nondeterminism helps model this uncertainty, allowing you to plan for many future scenarios and choose the best possible move based on a range of potential outcomes.   This doesn't necessarily mean that we consider every possible game; rather, we consider possible responses that are deemed likely or relevant.</a:t>
            </a:r>
          </a:p>
        </p:txBody>
      </p:sp>
      <p:sp>
        <p:nvSpPr>
          <p:cNvPr id="4" name="Rectangle 3"/>
          <p:cNvSpPr/>
          <p:nvPr/>
        </p:nvSpPr>
        <p:spPr>
          <a:xfrm>
            <a:off x="182880" y="457200"/>
            <a:ext cx="91440" cy="5943600"/>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FF0"/>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28B22"/>
                </a:solidFill>
                <a:latin typeface="Calibri"/>
              </a:defRPr>
            </a:pPr>
            <a:r>
              <a:t>Why Nondeterminism Matters</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Nondeterminism is powerful in theoretical computer science for two main reasons: (1) Power:  Allowing multiple parallel choices can overcome limitations of deterministic algorithms, potentially solving problems more efficiently. (2) Uncertainty: Modeling the unknown by considering all possibilities allows for strong guarantees about system correctness, security, and performance – even in uncertain environments.  The question of whether true nondeterminism exists in the real world is philosophically complex and beyond the scope of this lecture, but it is extremely valuable as a modeling tool.</a:t>
            </a:r>
          </a:p>
        </p:txBody>
      </p:sp>
      <p:sp>
        <p:nvSpPr>
          <p:cNvPr id="4" name="Rectangle 3"/>
          <p:cNvSpPr/>
          <p:nvPr/>
        </p:nvSpPr>
        <p:spPr>
          <a:xfrm>
            <a:off x="182880" y="457200"/>
            <a:ext cx="91440" cy="5943600"/>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6/9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8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F5496"/>
                </a:solidFill>
                <a:latin typeface="Calibri"/>
              </a:defRPr>
            </a:pPr>
            <a:r>
              <a:t>Summary</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This lecture introduced the concept of nondeterminism using three tangible analogies: navigating a maze, internet packet routing, and chess move planning.  We explored how nondeterminism handles multiple possibilities simultaneously, providing insights into both potential solutions and inherent system properties.  We then discussed the significance of nondeterminism in theoretical computer science for both its power and its ability to handle uncertainty.</a:t>
            </a:r>
          </a:p>
        </p:txBody>
      </p:sp>
      <p:sp>
        <p:nvSpPr>
          <p:cNvPr id="4" name="Rectangle 3"/>
          <p:cNvSpPr/>
          <p:nvPr/>
        </p:nvSpPr>
        <p:spPr>
          <a:xfrm>
            <a:off x="182880" y="457200"/>
            <a:ext cx="91440" cy="5943600"/>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7/9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5EE"/>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8B4513"/>
                </a:solidFill>
                <a:latin typeface="Calibri"/>
              </a:defRPr>
            </a:pPr>
            <a:r>
              <a:t>References</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This slide provides references for further reading on the concepts discussed in the lecture, focusing on the chess example.</a:t>
            </a:r>
          </a:p>
        </p:txBody>
      </p:sp>
      <p:sp>
        <p:nvSpPr>
          <p:cNvPr id="4" name="Rectangle 3"/>
          <p:cNvSpPr/>
          <p:nvPr/>
        </p:nvSpPr>
        <p:spPr>
          <a:xfrm>
            <a:off x="182880" y="457200"/>
            <a:ext cx="91440" cy="5943600"/>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8/9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FF0"/>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28B22"/>
                </a:solidFill>
                <a:latin typeface="Calibri"/>
              </a:defRPr>
            </a:pPr>
            <a:r>
              <a:t>Thank You!</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This is the concluding slide expressing gratitude to the audience and acknowledging those who contributed to the lecture content.</a:t>
            </a:r>
          </a:p>
        </p:txBody>
      </p:sp>
      <p:sp>
        <p:nvSpPr>
          <p:cNvPr id="4" name="Rectangle 3"/>
          <p:cNvSpPr/>
          <p:nvPr/>
        </p:nvSpPr>
        <p:spPr>
          <a:xfrm>
            <a:off x="182880" y="457200"/>
            <a:ext cx="91440" cy="5943600"/>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