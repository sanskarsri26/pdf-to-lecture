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6F0FF"/>
        </a:solidFill>
        <a:effectLst/>
      </p:bgPr>
    </p:bg>
    <p:spTree>
      <p:nvGrpSpPr>
        <p:cNvPr id="1" name=""/>
        <p:cNvGrpSpPr/>
        <p:nvPr/>
      </p:nvGrpSpPr>
      <p:grpSpPr/>
      <p:sp>
        <p:nvSpPr>
          <p:cNvPr id="2" name="Title 1"/>
          <p:cNvSpPr>
            <a:spLocks noGrp="1"/>
          </p:cNvSpPr>
          <p:nvPr>
            <p:ph type="title"/>
          </p:nvPr>
        </p:nvSpPr>
        <p:spPr/>
        <p:txBody>
          <a:bodyPr/>
          <a:lstStyle/>
          <a:p>
            <a:pPr algn="l">
              <a:defRPr sz="4400" b="1">
                <a:solidFill>
                  <a:srgbClr val="283C64"/>
                </a:solidFill>
              </a:defRPr>
            </a:pPr>
            <a:r>
              <a:t>Nondeterminism by Analogy</a:t>
            </a:r>
          </a:p>
        </p:txBody>
      </p:sp>
      <p:sp>
        <p:nvSpPr>
          <p:cNvPr id="3" name="Content Placeholder 2"/>
          <p:cNvSpPr>
            <a:spLocks noGrp="1"/>
          </p:cNvSpPr>
          <p:nvPr>
            <p:ph idx="1"/>
          </p:nvPr>
        </p:nvSpPr>
        <p:spPr/>
        <p:txBody>
          <a:bodyPr/>
          <a:lstStyle/>
          <a:p>
            <a:pPr algn="l">
              <a:spcBef>
                <a:spcPts val="1200"/>
              </a:spcBef>
              <a:spcAft>
                <a:spcPts val="1200"/>
              </a:spcAft>
              <a:defRPr sz="2000">
                <a:solidFill>
                  <a:srgbClr val="3C3C3C"/>
                </a:solidFill>
              </a:defRPr>
            </a:pPr>
            <a:r>
              <a:t>This lecture explores the concept of nondeterminism – a crucial concept in computer science, mathematics, and even philosophy.  Unlike determinism, where a single outcome follows a given input, nondeterminism allows for multiple possible outcomes.  We will approach this seemingly abstract idea using concrete, relatable examples – navigating a maze, internet packet routing, and planning chess moves – to illuminate the core principles and applications of nondeterminism.  Understanding nondeterminism is vital for grasping the limitations and potential of computational systems and modeling real-world uncertainties.</a:t>
            </a:r>
          </a:p>
        </p:txBody>
      </p:sp>
      <p:sp>
        <p:nvSpPr>
          <p:cNvPr id="4" name="Rectangle 3"/>
          <p:cNvSpPr/>
          <p:nvPr/>
        </p:nvSpPr>
        <p:spPr>
          <a:xfrm>
            <a:off x="457200" y="457200"/>
            <a:ext cx="91440" cy="5943600"/>
          </a:xfrm>
          <a:prstGeom prst="rect">
            <a:avLst/>
          </a:prstGeom>
          <a:solidFill>
            <a:srgbClr val="647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00800"/>
            <a:ext cx="457200" cy="274320"/>
          </a:xfrm>
          <a:prstGeom prst="rect">
            <a:avLst/>
          </a:prstGeom>
          <a:noFill/>
        </p:spPr>
        <p:txBody>
          <a:bodyPr wrap="none">
            <a:spAutoFit/>
          </a:bodyPr>
          <a:lstStyle/>
          <a:p>
            <a:pPr algn="r">
              <a:defRPr sz="1200">
                <a:solidFill>
                  <a:srgbClr val="646464"/>
                </a:solidFill>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0FF"/>
        </a:solidFill>
        <a:effectLst/>
      </p:bgPr>
    </p:bg>
    <p:spTree>
      <p:nvGrpSpPr>
        <p:cNvPr id="1" name=""/>
        <p:cNvGrpSpPr/>
        <p:nvPr/>
      </p:nvGrpSpPr>
      <p:grpSpPr/>
      <p:sp>
        <p:nvSpPr>
          <p:cNvPr id="2" name="Title 1"/>
          <p:cNvSpPr>
            <a:spLocks noGrp="1"/>
          </p:cNvSpPr>
          <p:nvPr>
            <p:ph type="title"/>
          </p:nvPr>
        </p:nvSpPr>
        <p:spPr/>
        <p:txBody>
          <a:bodyPr/>
          <a:lstStyle/>
          <a:p>
            <a:pPr algn="l">
              <a:defRPr sz="4400" b="1">
                <a:solidFill>
                  <a:srgbClr val="283C64"/>
                </a:solidFill>
              </a:defRPr>
            </a:pPr>
            <a:r>
              <a:t>Lecture Outline: Understanding Nondeterminism</a:t>
            </a:r>
          </a:p>
        </p:txBody>
      </p:sp>
      <p:sp>
        <p:nvSpPr>
          <p:cNvPr id="3" name="Content Placeholder 2"/>
          <p:cNvSpPr>
            <a:spLocks noGrp="1"/>
          </p:cNvSpPr>
          <p:nvPr>
            <p:ph idx="1"/>
          </p:nvPr>
        </p:nvSpPr>
        <p:spPr/>
        <p:txBody>
          <a:bodyPr/>
          <a:lstStyle/>
          <a:p>
            <a:pPr algn="l">
              <a:spcBef>
                <a:spcPts val="1200"/>
              </a:spcBef>
              <a:spcAft>
                <a:spcPts val="1200"/>
              </a:spcAft>
              <a:defRPr sz="2000">
                <a:solidFill>
                  <a:srgbClr val="3C3C3C"/>
                </a:solidFill>
              </a:defRPr>
            </a:pPr>
            <a:r>
              <a:t>Today's lecture systematically introduces the concept of nondeterminism through three carefully chosen analogies. We will first examine deterministic and nondeterministic strategies for navigating a maze, illustrating the core difference between predicting a single outcome and considering all possibilities. Second, we’ll analyze internet packet routing, showcasing how nondeterminism helps model the unpredictable nature of network paths. Finally, we'll delve into strategic game planning in chess, where considering an opponent's nondeterministic moves is essential for effective play. The lecture concludes with a brief discussion of nondeterminism's relevance in the real world and its profound influence on theoretical computer science.</a:t>
            </a:r>
          </a:p>
        </p:txBody>
      </p:sp>
      <p:sp>
        <p:nvSpPr>
          <p:cNvPr id="4" name="Rectangle 3"/>
          <p:cNvSpPr/>
          <p:nvPr/>
        </p:nvSpPr>
        <p:spPr>
          <a:xfrm>
            <a:off x="457200" y="457200"/>
            <a:ext cx="91440" cy="5943600"/>
          </a:xfrm>
          <a:prstGeom prst="rect">
            <a:avLst/>
          </a:prstGeom>
          <a:solidFill>
            <a:srgbClr val="647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00800"/>
            <a:ext cx="457200" cy="274320"/>
          </a:xfrm>
          <a:prstGeom prst="rect">
            <a:avLst/>
          </a:prstGeom>
          <a:noFill/>
        </p:spPr>
        <p:txBody>
          <a:bodyPr wrap="none">
            <a:spAutoFit/>
          </a:bodyPr>
          <a:lstStyle/>
          <a:p>
            <a:pPr algn="r">
              <a:defRPr sz="1200">
                <a:solidFill>
                  <a:srgbClr val="646464"/>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FFA"/>
        </a:solidFill>
        <a:effectLst/>
      </p:bgPr>
    </p:bg>
    <p:spTree>
      <p:nvGrpSpPr>
        <p:cNvPr id="1" name=""/>
        <p:cNvGrpSpPr/>
        <p:nvPr/>
      </p:nvGrpSpPr>
      <p:grpSpPr/>
      <p:sp>
        <p:nvSpPr>
          <p:cNvPr id="2" name="Title 1"/>
          <p:cNvSpPr>
            <a:spLocks noGrp="1"/>
          </p:cNvSpPr>
          <p:nvPr>
            <p:ph type="title"/>
          </p:nvPr>
        </p:nvSpPr>
        <p:spPr/>
        <p:txBody>
          <a:bodyPr/>
          <a:lstStyle/>
          <a:p>
            <a:pPr algn="l">
              <a:defRPr sz="4400" b="1">
                <a:solidFill>
                  <a:srgbClr val="283C64"/>
                </a:solidFill>
              </a:defRPr>
            </a:pPr>
            <a:r>
              <a:t>Maze Navigation: A Deterministic Approach</a:t>
            </a:r>
          </a:p>
        </p:txBody>
      </p:sp>
      <p:sp>
        <p:nvSpPr>
          <p:cNvPr id="3" name="Content Placeholder 2"/>
          <p:cNvSpPr>
            <a:spLocks noGrp="1"/>
          </p:cNvSpPr>
          <p:nvPr>
            <p:ph idx="1"/>
          </p:nvPr>
        </p:nvSpPr>
        <p:spPr/>
        <p:txBody>
          <a:bodyPr/>
          <a:lstStyle/>
          <a:p>
            <a:pPr algn="l">
              <a:spcBef>
                <a:spcPts val="1200"/>
              </a:spcBef>
              <a:spcAft>
                <a:spcPts val="1200"/>
              </a:spcAft>
              <a:defRPr sz="2000">
                <a:solidFill>
                  <a:srgbClr val="3C3C3C"/>
                </a:solidFill>
              </a:defRPr>
            </a:pPr>
            <a:r>
              <a:t>Let's consider a deterministic strategy for maze navigation.  A deterministic algorithm guarantees a specific outcome given a set of inputs. In this case,  we'll use the "always take the leftmost path" strategy.  Observe how this strategy succeeds with Maze 2, reliably leading to the exit. However, as Maze 1 demonstrates, this deterministic approach fails; the choice of the leftmost path doesn't always guarantee a solution.  This highlights the limitation of deterministic approaches: they might not solve every problem instance.</a:t>
            </a:r>
          </a:p>
        </p:txBody>
      </p:sp>
      <p:sp>
        <p:nvSpPr>
          <p:cNvPr id="4" name="Rectangle 3"/>
          <p:cNvSpPr/>
          <p:nvPr/>
        </p:nvSpPr>
        <p:spPr>
          <a:xfrm>
            <a:off x="457200" y="457200"/>
            <a:ext cx="91440" cy="5943600"/>
          </a:xfrm>
          <a:prstGeom prst="rect">
            <a:avLst/>
          </a:prstGeom>
          <a:solidFill>
            <a:srgbClr val="647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00800"/>
            <a:ext cx="457200" cy="274320"/>
          </a:xfrm>
          <a:prstGeom prst="rect">
            <a:avLst/>
          </a:prstGeom>
          <a:noFill/>
        </p:spPr>
        <p:txBody>
          <a:bodyPr wrap="none">
            <a:spAutoFit/>
          </a:bodyPr>
          <a:lstStyle/>
          <a:p>
            <a:pPr algn="r">
              <a:defRPr sz="1200">
                <a:solidFill>
                  <a:srgbClr val="646464"/>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Title 1"/>
          <p:cNvSpPr>
            <a:spLocks noGrp="1"/>
          </p:cNvSpPr>
          <p:nvPr>
            <p:ph type="title"/>
          </p:nvPr>
        </p:nvSpPr>
        <p:spPr/>
        <p:txBody>
          <a:bodyPr/>
          <a:lstStyle/>
          <a:p>
            <a:pPr algn="l">
              <a:defRPr sz="4400" b="1">
                <a:solidFill>
                  <a:srgbClr val="283C64"/>
                </a:solidFill>
              </a:defRPr>
            </a:pPr>
            <a:r>
              <a:t>Maze Navigation: A Nondeterministic Approach</a:t>
            </a:r>
          </a:p>
        </p:txBody>
      </p:sp>
      <p:sp>
        <p:nvSpPr>
          <p:cNvPr id="3" name="Content Placeholder 2"/>
          <p:cNvSpPr>
            <a:spLocks noGrp="1"/>
          </p:cNvSpPr>
          <p:nvPr>
            <p:ph idx="1"/>
          </p:nvPr>
        </p:nvSpPr>
        <p:spPr/>
        <p:txBody>
          <a:bodyPr/>
          <a:lstStyle/>
          <a:p>
            <a:pPr algn="l">
              <a:spcBef>
                <a:spcPts val="1200"/>
              </a:spcBef>
              <a:spcAft>
                <a:spcPts val="1200"/>
              </a:spcAft>
              <a:defRPr sz="2000">
                <a:solidFill>
                  <a:srgbClr val="3C3C3C"/>
                </a:solidFill>
              </a:defRPr>
            </a:pPr>
            <a:r>
              <a:t>Now, let's explore nondeterministic maze solving.  A nondeterministic algorithm explores all possible paths simultaneously, or conceptually speaking, it makes the "right" choice at each junction.  In a nondeterministic approach, the question isn't about the strategy, but about the solvability of the maze.  Analyzing Maze 1 nondeterministically reveals that it’s unsolvable, regardless of strategy. For Maze 2, a solution exists, even though a specific path isn't predetermined.  This shift in perspective from strategy to inherent problem properties is a key characteristic of nondeterminism.</a:t>
            </a:r>
          </a:p>
        </p:txBody>
      </p:sp>
      <p:sp>
        <p:nvSpPr>
          <p:cNvPr id="4" name="Rectangle 3"/>
          <p:cNvSpPr/>
          <p:nvPr/>
        </p:nvSpPr>
        <p:spPr>
          <a:xfrm>
            <a:off x="457200" y="457200"/>
            <a:ext cx="91440" cy="5943600"/>
          </a:xfrm>
          <a:prstGeom prst="rect">
            <a:avLst/>
          </a:prstGeom>
          <a:solidFill>
            <a:srgbClr val="647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00800"/>
            <a:ext cx="457200" cy="274320"/>
          </a:xfrm>
          <a:prstGeom prst="rect">
            <a:avLst/>
          </a:prstGeom>
          <a:noFill/>
        </p:spPr>
        <p:txBody>
          <a:bodyPr wrap="none">
            <a:spAutoFit/>
          </a:bodyPr>
          <a:lstStyle/>
          <a:p>
            <a:pPr algn="r">
              <a:defRPr sz="1200">
                <a:solidFill>
                  <a:srgbClr val="646464"/>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6F0FF"/>
        </a:solidFill>
        <a:effectLst/>
      </p:bgPr>
    </p:bg>
    <p:spTree>
      <p:nvGrpSpPr>
        <p:cNvPr id="1" name=""/>
        <p:cNvGrpSpPr/>
        <p:nvPr/>
      </p:nvGrpSpPr>
      <p:grpSpPr/>
      <p:sp>
        <p:nvSpPr>
          <p:cNvPr id="2" name="Title 1"/>
          <p:cNvSpPr>
            <a:spLocks noGrp="1"/>
          </p:cNvSpPr>
          <p:nvPr>
            <p:ph type="title"/>
          </p:nvPr>
        </p:nvSpPr>
        <p:spPr/>
        <p:txBody>
          <a:bodyPr/>
          <a:lstStyle/>
          <a:p>
            <a:pPr algn="l">
              <a:defRPr sz="4400" b="1">
                <a:solidFill>
                  <a:srgbClr val="283C64"/>
                </a:solidFill>
              </a:defRPr>
            </a:pPr>
            <a:r>
              <a:t>Nondeterminism in Network Routing</a:t>
            </a:r>
          </a:p>
        </p:txBody>
      </p:sp>
      <p:sp>
        <p:nvSpPr>
          <p:cNvPr id="3" name="Content Placeholder 2"/>
          <p:cNvSpPr>
            <a:spLocks noGrp="1"/>
          </p:cNvSpPr>
          <p:nvPr>
            <p:ph idx="1"/>
          </p:nvPr>
        </p:nvSpPr>
        <p:spPr/>
        <p:txBody>
          <a:bodyPr/>
          <a:lstStyle/>
          <a:p>
            <a:pPr algn="l">
              <a:spcBef>
                <a:spcPts val="1200"/>
              </a:spcBef>
              <a:spcAft>
                <a:spcPts val="1200"/>
              </a:spcAft>
              <a:defRPr sz="2000">
                <a:solidFill>
                  <a:srgbClr val="3C3C3C"/>
                </a:solidFill>
              </a:defRPr>
            </a:pPr>
            <a:r>
              <a:t>Consider sending a data packet from your laptop to a web server.  The route the packet takes is not predetermined; it traverses the network based on various factors like network congestion, link failures, and routing protocols.  This is a quintessential example of nondeterminism.  We don't know a priori which path the packet will follow; multiple paths exist.  Modeling this as a nondeterministic system allows us to analyze network reliability, optimize routing strategies, and understand the potential for delays or packet loss.  The network's behavior is inherently nondeterministic due to unpredictable external factors.</a:t>
            </a:r>
          </a:p>
        </p:txBody>
      </p:sp>
      <p:sp>
        <p:nvSpPr>
          <p:cNvPr id="4" name="Rectangle 3"/>
          <p:cNvSpPr/>
          <p:nvPr/>
        </p:nvSpPr>
        <p:spPr>
          <a:xfrm>
            <a:off x="457200" y="457200"/>
            <a:ext cx="91440" cy="5943600"/>
          </a:xfrm>
          <a:prstGeom prst="rect">
            <a:avLst/>
          </a:prstGeom>
          <a:solidFill>
            <a:srgbClr val="647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00800"/>
            <a:ext cx="457200" cy="274320"/>
          </a:xfrm>
          <a:prstGeom prst="rect">
            <a:avLst/>
          </a:prstGeom>
          <a:noFill/>
        </p:spPr>
        <p:txBody>
          <a:bodyPr wrap="none">
            <a:spAutoFit/>
          </a:bodyPr>
          <a:lstStyle/>
          <a:p>
            <a:pPr algn="r">
              <a:defRPr sz="1200">
                <a:solidFill>
                  <a:srgbClr val="646464"/>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0FF"/>
        </a:solidFill>
        <a:effectLst/>
      </p:bgPr>
    </p:bg>
    <p:spTree>
      <p:nvGrpSpPr>
        <p:cNvPr id="1" name=""/>
        <p:cNvGrpSpPr/>
        <p:nvPr/>
      </p:nvGrpSpPr>
      <p:grpSpPr/>
      <p:sp>
        <p:nvSpPr>
          <p:cNvPr id="2" name="Title 1"/>
          <p:cNvSpPr>
            <a:spLocks noGrp="1"/>
          </p:cNvSpPr>
          <p:nvPr>
            <p:ph type="title"/>
          </p:nvPr>
        </p:nvSpPr>
        <p:spPr/>
        <p:txBody>
          <a:bodyPr/>
          <a:lstStyle/>
          <a:p>
            <a:pPr algn="l">
              <a:defRPr sz="4400" b="1">
                <a:solidFill>
                  <a:srgbClr val="283C64"/>
                </a:solidFill>
              </a:defRPr>
            </a:pPr>
            <a:r>
              <a:t>Nondeterminism in Strategic Game Playing (Chess)</a:t>
            </a:r>
          </a:p>
        </p:txBody>
      </p:sp>
      <p:sp>
        <p:nvSpPr>
          <p:cNvPr id="3" name="Content Placeholder 2"/>
          <p:cNvSpPr>
            <a:spLocks noGrp="1"/>
          </p:cNvSpPr>
          <p:nvPr>
            <p:ph idx="1"/>
          </p:nvPr>
        </p:nvSpPr>
        <p:spPr/>
        <p:txBody>
          <a:bodyPr/>
          <a:lstStyle/>
          <a:p>
            <a:pPr algn="l">
              <a:spcBef>
                <a:spcPts val="1200"/>
              </a:spcBef>
              <a:spcAft>
                <a:spcPts val="1200"/>
              </a:spcAft>
              <a:defRPr sz="2000">
                <a:solidFill>
                  <a:srgbClr val="3C3C3C"/>
                </a:solidFill>
              </a:defRPr>
            </a:pPr>
            <a:r>
              <a:t>In chess, planning your moves requires anticipating your opponent's actions.  However, your opponent's moves are nondeterministic from your perspective; you don't know their exact strategy.  To create a robust strategy, you must consider a tree of possibilities – all possible opponent responses to your moves, and then their responses to your countermoves, and so on.  This branching structure of possibilities exemplifies nondeterminism in strategic game playing.  Efficient algorithms for exploring this tree are central to game AI and strategic decision making.</a:t>
            </a:r>
          </a:p>
        </p:txBody>
      </p:sp>
      <p:sp>
        <p:nvSpPr>
          <p:cNvPr id="4" name="Rectangle 3"/>
          <p:cNvSpPr/>
          <p:nvPr/>
        </p:nvSpPr>
        <p:spPr>
          <a:xfrm>
            <a:off x="457200" y="457200"/>
            <a:ext cx="91440" cy="5943600"/>
          </a:xfrm>
          <a:prstGeom prst="rect">
            <a:avLst/>
          </a:prstGeom>
          <a:solidFill>
            <a:srgbClr val="647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00800"/>
            <a:ext cx="457200" cy="274320"/>
          </a:xfrm>
          <a:prstGeom prst="rect">
            <a:avLst/>
          </a:prstGeom>
          <a:noFill/>
        </p:spPr>
        <p:txBody>
          <a:bodyPr wrap="none">
            <a:spAutoFit/>
          </a:bodyPr>
          <a:lstStyle/>
          <a:p>
            <a:pPr algn="r">
              <a:defRPr sz="1200">
                <a:solidFill>
                  <a:srgbClr val="646464"/>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FFA"/>
        </a:solidFill>
        <a:effectLst/>
      </p:bgPr>
    </p:bg>
    <p:spTree>
      <p:nvGrpSpPr>
        <p:cNvPr id="1" name=""/>
        <p:cNvGrpSpPr/>
        <p:nvPr/>
      </p:nvGrpSpPr>
      <p:grpSpPr/>
      <p:sp>
        <p:nvSpPr>
          <p:cNvPr id="2" name="Title 1"/>
          <p:cNvSpPr>
            <a:spLocks noGrp="1"/>
          </p:cNvSpPr>
          <p:nvPr>
            <p:ph type="title"/>
          </p:nvPr>
        </p:nvSpPr>
        <p:spPr/>
        <p:txBody>
          <a:bodyPr/>
          <a:lstStyle/>
          <a:p>
            <a:pPr algn="l">
              <a:defRPr sz="4400" b="1">
                <a:solidFill>
                  <a:srgbClr val="283C64"/>
                </a:solidFill>
              </a:defRPr>
            </a:pPr>
            <a:r>
              <a:t>The Significance of Nondeterminism</a:t>
            </a:r>
          </a:p>
        </p:txBody>
      </p:sp>
      <p:sp>
        <p:nvSpPr>
          <p:cNvPr id="3" name="Content Placeholder 2"/>
          <p:cNvSpPr>
            <a:spLocks noGrp="1"/>
          </p:cNvSpPr>
          <p:nvPr>
            <p:ph idx="1"/>
          </p:nvPr>
        </p:nvSpPr>
        <p:spPr/>
        <p:txBody>
          <a:bodyPr/>
          <a:lstStyle/>
          <a:p>
            <a:pPr algn="l">
              <a:spcBef>
                <a:spcPts val="1200"/>
              </a:spcBef>
              <a:spcAft>
                <a:spcPts val="1200"/>
              </a:spcAft>
              <a:defRPr sz="2000">
                <a:solidFill>
                  <a:srgbClr val="3C3C3C"/>
                </a:solidFill>
              </a:defRPr>
            </a:pPr>
            <a:r>
              <a:t>The importance of nondeterminism in theoretical computer science lies in its power and ability to model uncertainty. The consideration of all possibilities, in parallel if possible, can reveal powerful insights.  It allows for exploration of computational models exceeding the limitations of purely deterministic approaches. In modeling real-world systems, nondeterminism offers a means to account for the inherent uncertainty and unpredictability of many situations.  The question of whether nondeterminism exists in the real world is philosophically complex and extends beyond the scope of this introduction, but it serves as a useful conceptual framework for understanding limited perspectives.</a:t>
            </a:r>
          </a:p>
        </p:txBody>
      </p:sp>
      <p:sp>
        <p:nvSpPr>
          <p:cNvPr id="4" name="Rectangle 3"/>
          <p:cNvSpPr/>
          <p:nvPr/>
        </p:nvSpPr>
        <p:spPr>
          <a:xfrm>
            <a:off x="457200" y="457200"/>
            <a:ext cx="91440" cy="5943600"/>
          </a:xfrm>
          <a:prstGeom prst="rect">
            <a:avLst/>
          </a:prstGeom>
          <a:solidFill>
            <a:srgbClr val="647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00800"/>
            <a:ext cx="457200" cy="274320"/>
          </a:xfrm>
          <a:prstGeom prst="rect">
            <a:avLst/>
          </a:prstGeom>
          <a:noFill/>
        </p:spPr>
        <p:txBody>
          <a:bodyPr wrap="none">
            <a:spAutoFit/>
          </a:bodyPr>
          <a:lstStyle/>
          <a:p>
            <a:pPr algn="r">
              <a:defRPr sz="1200">
                <a:solidFill>
                  <a:srgbClr val="646464"/>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8F5"/>
        </a:solidFill>
        <a:effectLst/>
      </p:bgPr>
    </p:bg>
    <p:spTree>
      <p:nvGrpSpPr>
        <p:cNvPr id="1" name=""/>
        <p:cNvGrpSpPr/>
        <p:nvPr/>
      </p:nvGrpSpPr>
      <p:grpSpPr/>
      <p:sp>
        <p:nvSpPr>
          <p:cNvPr id="2" name="Title 1"/>
          <p:cNvSpPr>
            <a:spLocks noGrp="1"/>
          </p:cNvSpPr>
          <p:nvPr>
            <p:ph type="title"/>
          </p:nvPr>
        </p:nvSpPr>
        <p:spPr/>
        <p:txBody>
          <a:bodyPr/>
          <a:lstStyle/>
          <a:p>
            <a:pPr algn="l">
              <a:defRPr sz="4400" b="1">
                <a:solidFill>
                  <a:srgbClr val="283C64"/>
                </a:solidFill>
              </a:defRPr>
            </a:pPr>
            <a:r>
              <a:t>Summary and Acknowledgements</a:t>
            </a:r>
          </a:p>
        </p:txBody>
      </p:sp>
      <p:sp>
        <p:nvSpPr>
          <p:cNvPr id="3" name="Content Placeholder 2"/>
          <p:cNvSpPr>
            <a:spLocks noGrp="1"/>
          </p:cNvSpPr>
          <p:nvPr>
            <p:ph idx="1"/>
          </p:nvPr>
        </p:nvSpPr>
        <p:spPr/>
        <p:txBody>
          <a:bodyPr/>
          <a:lstStyle/>
          <a:p>
            <a:pPr algn="l">
              <a:spcBef>
                <a:spcPts val="1200"/>
              </a:spcBef>
              <a:spcAft>
                <a:spcPts val="1200"/>
              </a:spcAft>
              <a:defRPr sz="2000">
                <a:solidFill>
                  <a:srgbClr val="3C3C3C"/>
                </a:solidFill>
              </a:defRPr>
            </a:pPr>
            <a:r>
              <a:t>This lecture provided an accessible introduction to the concept of nondeterminism, using three relatable analogies: maze navigation, internet packet routing, and strategic chess planning. We saw how nondeterminism contrasts with determinism, focusing on the exploration of possibilities rather than the prediction of a single outcome.  Understanding nondeterminism is crucial for both theoretical computer science and modelling real-world systems with inherent uncertainties. I would like to thank Dr. Dave Ackley, Dr. Samuel Wein, Dr. Anna Latour, Nate Gaylinn, Ben Aveling, and Akshar Varma for their valuable input and contributions to these examples.</a:t>
            </a:r>
          </a:p>
        </p:txBody>
      </p:sp>
      <p:sp>
        <p:nvSpPr>
          <p:cNvPr id="4" name="Rectangle 3"/>
          <p:cNvSpPr/>
          <p:nvPr/>
        </p:nvSpPr>
        <p:spPr>
          <a:xfrm>
            <a:off x="457200" y="457200"/>
            <a:ext cx="91440" cy="5943600"/>
          </a:xfrm>
          <a:prstGeom prst="rect">
            <a:avLst/>
          </a:prstGeom>
          <a:solidFill>
            <a:srgbClr val="647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00800"/>
            <a:ext cx="457200" cy="274320"/>
          </a:xfrm>
          <a:prstGeom prst="rect">
            <a:avLst/>
          </a:prstGeom>
          <a:noFill/>
        </p:spPr>
        <p:txBody>
          <a:bodyPr wrap="none">
            <a:spAutoFit/>
          </a:bodyPr>
          <a:lstStyle/>
          <a:p>
            <a:pPr algn="r">
              <a:defRPr sz="1200">
                <a:solidFill>
                  <a:srgbClr val="646464"/>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6F0FF"/>
        </a:solidFill>
        <a:effectLst/>
      </p:bgPr>
    </p:bg>
    <p:spTree>
      <p:nvGrpSpPr>
        <p:cNvPr id="1" name=""/>
        <p:cNvGrpSpPr/>
        <p:nvPr/>
      </p:nvGrpSpPr>
      <p:grpSpPr/>
      <p:sp>
        <p:nvSpPr>
          <p:cNvPr id="2" name="Title 1"/>
          <p:cNvSpPr>
            <a:spLocks noGrp="1"/>
          </p:cNvSpPr>
          <p:nvPr>
            <p:ph type="title"/>
          </p:nvPr>
        </p:nvSpPr>
        <p:spPr/>
        <p:txBody>
          <a:bodyPr/>
          <a:lstStyle/>
          <a:p>
            <a:pPr algn="l">
              <a:defRPr sz="4400" b="1">
                <a:solidFill>
                  <a:srgbClr val="283C64"/>
                </a:solidFill>
              </a:defRPr>
            </a:pPr>
            <a:r>
              <a:t>References and Thank You</a:t>
            </a:r>
          </a:p>
        </p:txBody>
      </p:sp>
      <p:sp>
        <p:nvSpPr>
          <p:cNvPr id="3" name="Content Placeholder 2"/>
          <p:cNvSpPr>
            <a:spLocks noGrp="1"/>
          </p:cNvSpPr>
          <p:nvPr>
            <p:ph idx="1"/>
          </p:nvPr>
        </p:nvSpPr>
        <p:spPr/>
        <p:txBody>
          <a:bodyPr/>
          <a:lstStyle/>
          <a:p>
            <a:pPr algn="l">
              <a:spcBef>
                <a:spcPts val="1200"/>
              </a:spcBef>
              <a:spcAft>
                <a:spcPts val="1200"/>
              </a:spcAft>
              <a:defRPr sz="2000">
                <a:solidFill>
                  <a:srgbClr val="3C3C3C"/>
                </a:solidFill>
              </a:defRPr>
            </a:pPr>
            <a:r>
              <a:t>This slide provides a reference for the ChessCoach example used in the presentation.  The lecture concludes with a thank you to the audience for their participation and attention.  Feel free to ask any questions you might have.  Thank you.</a:t>
            </a:r>
          </a:p>
        </p:txBody>
      </p:sp>
      <p:sp>
        <p:nvSpPr>
          <p:cNvPr id="4" name="Rectangle 3"/>
          <p:cNvSpPr/>
          <p:nvPr/>
        </p:nvSpPr>
        <p:spPr>
          <a:xfrm>
            <a:off x="457200" y="457200"/>
            <a:ext cx="91440" cy="5943600"/>
          </a:xfrm>
          <a:prstGeom prst="rect">
            <a:avLst/>
          </a:prstGeom>
          <a:solidFill>
            <a:srgbClr val="647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0" y="6400800"/>
            <a:ext cx="457200" cy="274320"/>
          </a:xfrm>
          <a:prstGeom prst="rect">
            <a:avLst/>
          </a:prstGeom>
          <a:noFill/>
        </p:spPr>
        <p:txBody>
          <a:bodyPr wrap="none">
            <a:spAutoFit/>
          </a:bodyPr>
          <a:lstStyle/>
          <a:p>
            <a:pPr algn="r">
              <a:defRPr sz="1200">
                <a:solidFill>
                  <a:srgbClr val="646464"/>
                </a:solidFill>
              </a:defRPr>
            </a:pPr>
            <a:r>
              <a:t>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