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0F8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F5496"/>
                </a:solidFill>
                <a:latin typeface="Calibri"/>
              </a:defRPr>
            </a:pPr>
            <a:r>
              <a:t>Nondeterminism by Analogy</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Slide </a:t>
            </a:r>
          </a:p>
          <a:p>
            <a:pPr algn="l">
              <a:spcBef>
                <a:spcPts val="1200"/>
              </a:spcBef>
              <a:spcAft>
                <a:spcPts val="1200"/>
              </a:spcAft>
              <a:defRPr sz="2400" b="0">
                <a:solidFill>
                  <a:srgbClr val="3C3C3C"/>
                </a:solidFill>
                <a:latin typeface="Calibri"/>
              </a:defRPr>
            </a:pPr>
            <a:r>
              <a:t>This lecture explores the concept of nondeterminism – a scenario where multiple outcomes are possible from a single action, unlike determinism where a single action always yields a single, predictable outcome. We'll use relatable analogies to grasp this seemingly abstract idea.  Think of it as the difference between a perfectly predictable machine and a system where chance or choice plays a role.  We'll look at mazes, internet routing, and chess to illustrate different facets of nondeterminism.</a:t>
            </a:r>
          </a:p>
        </p:txBody>
      </p:sp>
      <p:sp>
        <p:nvSpPr>
          <p:cNvPr id="4" name="Rectangle 3"/>
          <p:cNvSpPr/>
          <p:nvPr/>
        </p:nvSpPr>
        <p:spPr>
          <a:xfrm>
            <a:off x="182880" y="457200"/>
            <a:ext cx="91440" cy="5943600"/>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5EE"/>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8B4513"/>
                </a:solidFill>
                <a:latin typeface="Calibri"/>
              </a:defRPr>
            </a:pPr>
            <a:r>
              <a:t>Outline</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Slide </a:t>
            </a:r>
          </a:p>
          <a:p>
            <a:pPr algn="l">
              <a:spcBef>
                <a:spcPts val="1200"/>
              </a:spcBef>
              <a:spcAft>
                <a:spcPts val="1200"/>
              </a:spcAft>
              <a:defRPr sz="2400" b="0">
                <a:solidFill>
                  <a:srgbClr val="3C3C3C"/>
                </a:solidFill>
                <a:latin typeface="Calibri"/>
              </a:defRPr>
            </a:pPr>
            <a:r>
              <a:t>Today's lecture will unravel the concept of nondeterminism using three concrete examples: navigating a maze (highlighting the exploration of multiple paths), analyzing internet packet routing (where the path is not predetermined), and strategizing in chess (where the opponent's moves are unpredictable).  Finally, we will briefly discuss the relevance of nondeterminism in the real world and its significance in theoretical computer science. This structured approach will ensure a clear understanding of this complex concept.</a:t>
            </a:r>
          </a:p>
        </p:txBody>
      </p:sp>
      <p:sp>
        <p:nvSpPr>
          <p:cNvPr id="4" name="Rectangle 3"/>
          <p:cNvSpPr/>
          <p:nvPr/>
        </p:nvSpPr>
        <p:spPr>
          <a:xfrm>
            <a:off x="182880" y="457200"/>
            <a:ext cx="91440" cy="5943600"/>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FF0"/>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28B22"/>
                </a:solidFill>
                <a:latin typeface="Calibri"/>
              </a:defRPr>
            </a:pPr>
            <a:r>
              <a:t>Navigating a Maze: Determinism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Slide </a:t>
            </a:r>
          </a:p>
          <a:p>
            <a:pPr algn="l">
              <a:spcBef>
                <a:spcPts val="1200"/>
              </a:spcBef>
              <a:spcAft>
                <a:spcPts val="1200"/>
              </a:spcAft>
              <a:defRPr sz="2400" b="0">
                <a:solidFill>
                  <a:srgbClr val="3C3C3C"/>
                </a:solidFill>
                <a:latin typeface="Calibri"/>
              </a:defRPr>
            </a:pPr>
            <a:r>
              <a:t>Let's start with a deterministic approach to maze navigation.  Determinism means following a set rule that guarantees a specific outcome.  For example, a deterministic strategy could be: "always take the leftmost path."  This strategy always works for some mazes (Maze 2 in the image), and never works for others (Maze 1).  Deterministic systems are predictable; the output is entirely determined by the input and the rules.</a:t>
            </a:r>
          </a:p>
        </p:txBody>
      </p:sp>
      <p:sp>
        <p:nvSpPr>
          <p:cNvPr id="4" name="Rectangle 3"/>
          <p:cNvSpPr/>
          <p:nvPr/>
        </p:nvSpPr>
        <p:spPr>
          <a:xfrm>
            <a:off x="182880" y="457200"/>
            <a:ext cx="91440" cy="5943600"/>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3/9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8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F5496"/>
                </a:solidFill>
                <a:latin typeface="Calibri"/>
              </a:defRPr>
            </a:pPr>
            <a:r>
              <a:t>Navigating a Maze: Nondeterminism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Slide </a:t>
            </a:r>
          </a:p>
          <a:p>
            <a:pPr algn="l">
              <a:spcBef>
                <a:spcPts val="1200"/>
              </a:spcBef>
              <a:spcAft>
                <a:spcPts val="1200"/>
              </a:spcAft>
              <a:defRPr sz="2400" b="0">
                <a:solidFill>
                  <a:srgbClr val="3C3C3C"/>
                </a:solidFill>
                <a:latin typeface="Calibri"/>
              </a:defRPr>
            </a:pPr>
            <a:r>
              <a:t>Now, let's consider a nondeterministic approach. Nondeterminism involves exploring all possible paths simultaneously to find a solution.  This means considering every possible turn at every junction.  In the context of our mazes, this approach determines whether a maze is solvable regardless of the strategy used.  For example, it reveals that Maze 1 has no solution, whereas Maze 2 does. Nondeterminism focuses on the possibilities, not on a single path.</a:t>
            </a:r>
          </a:p>
        </p:txBody>
      </p:sp>
      <p:sp>
        <p:nvSpPr>
          <p:cNvPr id="4" name="Rectangle 3"/>
          <p:cNvSpPr/>
          <p:nvPr/>
        </p:nvSpPr>
        <p:spPr>
          <a:xfrm>
            <a:off x="182880" y="457200"/>
            <a:ext cx="91440" cy="5943600"/>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5EE"/>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8B4513"/>
                </a:solidFill>
                <a:latin typeface="Calibri"/>
              </a:defRPr>
            </a:pPr>
            <a:r>
              <a:t>Routing Packets on the Internet</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Slide </a:t>
            </a:r>
          </a:p>
          <a:p>
            <a:pPr algn="l">
              <a:spcBef>
                <a:spcPts val="1200"/>
              </a:spcBef>
              <a:spcAft>
                <a:spcPts val="1200"/>
              </a:spcAft>
              <a:defRPr sz="2400" b="0">
                <a:solidFill>
                  <a:srgbClr val="3C3C3C"/>
                </a:solidFill>
                <a:latin typeface="Calibri"/>
              </a:defRPr>
            </a:pPr>
            <a:r>
              <a:t>Consider sending a data packet from your laptop to a web server.  The internet's structure is a vast network; the packet's route isn't predetermined.  Numerous paths exist, and the actual route depends on network congestion, server availability, and various other factors.  This is a real-world example of nondeterminism: the final path is not known in advance; we can only consider the possibilities.</a:t>
            </a:r>
          </a:p>
        </p:txBody>
      </p:sp>
      <p:sp>
        <p:nvSpPr>
          <p:cNvPr id="4" name="Rectangle 3"/>
          <p:cNvSpPr/>
          <p:nvPr/>
        </p:nvSpPr>
        <p:spPr>
          <a:xfrm>
            <a:off x="182880" y="457200"/>
            <a:ext cx="91440" cy="5943600"/>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FF0"/>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28B22"/>
                </a:solidFill>
                <a:latin typeface="Calibri"/>
              </a:defRPr>
            </a:pPr>
            <a:r>
              <a:t>Planning Moves in Chess</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Slide </a:t>
            </a:r>
          </a:p>
          <a:p>
            <a:pPr algn="l">
              <a:spcBef>
                <a:spcPts val="1200"/>
              </a:spcBef>
              <a:spcAft>
                <a:spcPts val="1200"/>
              </a:spcAft>
              <a:defRPr sz="2400" b="0">
                <a:solidFill>
                  <a:srgbClr val="3C3C3C"/>
                </a:solidFill>
                <a:latin typeface="Calibri"/>
              </a:defRPr>
            </a:pPr>
            <a:r>
              <a:t>In chess, predicting the opponent's moves is impossible. We must consider all possible responses to our moves.  A nondeterministic approach in chess game planning involves creating a game tree: exploring all possible sequences of moves by both players.  This allows us to evaluate the potential outcomes of our moves and choose the best strategy despite the uncertainty introduced by the opponent's unpredictable choices.</a:t>
            </a:r>
          </a:p>
        </p:txBody>
      </p:sp>
      <p:sp>
        <p:nvSpPr>
          <p:cNvPr id="4" name="Rectangle 3"/>
          <p:cNvSpPr/>
          <p:nvPr/>
        </p:nvSpPr>
        <p:spPr>
          <a:xfrm>
            <a:off x="182880" y="457200"/>
            <a:ext cx="91440" cy="5943600"/>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6/9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8FF"/>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F5496"/>
                </a:solidFill>
                <a:latin typeface="Calibri"/>
              </a:defRPr>
            </a:pPr>
            <a:r>
              <a:t>Why Nondeterminism?</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Slide </a:t>
            </a:r>
          </a:p>
          <a:p>
            <a:pPr algn="l">
              <a:spcBef>
                <a:spcPts val="1200"/>
              </a:spcBef>
              <a:spcAft>
                <a:spcPts val="1200"/>
              </a:spcAft>
              <a:defRPr sz="2400" b="0">
                <a:solidFill>
                  <a:srgbClr val="3C3C3C"/>
                </a:solidFill>
                <a:latin typeface="Calibri"/>
              </a:defRPr>
            </a:pPr>
            <a:r>
              <a:t>Nondeterminism is crucial in theoretical computer science for two primary reasons: 1) Power:  Considering multiple possibilities simultaneously can lead to more efficient algorithms and problem-solving capabilities. 2) Uncertainty:  Modeling uncertainty by considering all possibilities allows us to build robust systems with strong guarantees of correctness, security, and performance.  Whether nondeterminism exists in the real world is a philosophical question, but it's a useful framework for analyzing systems with inherent uncertainties.</a:t>
            </a:r>
          </a:p>
        </p:txBody>
      </p:sp>
      <p:sp>
        <p:nvSpPr>
          <p:cNvPr id="4" name="Rectangle 3"/>
          <p:cNvSpPr/>
          <p:nvPr/>
        </p:nvSpPr>
        <p:spPr>
          <a:xfrm>
            <a:off x="182880" y="457200"/>
            <a:ext cx="91440" cy="5943600"/>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416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7/9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5EE"/>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8B4513"/>
                </a:solidFill>
                <a:latin typeface="Calibri"/>
              </a:defRPr>
            </a:pPr>
            <a:r>
              <a:t>Summary</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Slide </a:t>
            </a:r>
          </a:p>
          <a:p>
            <a:pPr algn="l">
              <a:spcBef>
                <a:spcPts val="1200"/>
              </a:spcBef>
              <a:spcAft>
                <a:spcPts val="1200"/>
              </a:spcAft>
              <a:defRPr sz="2400" b="0">
                <a:solidFill>
                  <a:srgbClr val="3C3C3C"/>
                </a:solidFill>
                <a:latin typeface="Calibri"/>
              </a:defRPr>
            </a:pPr>
            <a:r>
              <a:t>To recap, we've explored nondeterminism using three analogies: maze navigation, internet packet routing, and chess strategy.  These examples helped illustrate the core concept: nondeterminism deals with multiple potential outcomes, unlike deterministic systems with predictable results. This framework is powerfully applicable in theoretical computer science for understanding the limits and capabilities of algorithms and systems.</a:t>
            </a:r>
          </a:p>
        </p:txBody>
      </p:sp>
      <p:sp>
        <p:nvSpPr>
          <p:cNvPr id="4" name="Rectangle 3"/>
          <p:cNvSpPr/>
          <p:nvPr/>
        </p:nvSpPr>
        <p:spPr>
          <a:xfrm>
            <a:off x="182880" y="457200"/>
            <a:ext cx="91440" cy="5943600"/>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D269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8/9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FF0"/>
        </a:solidFill>
        <a:effectLst/>
      </p:bgPr>
    </p:bg>
    <p:spTree>
      <p:nvGrpSpPr>
        <p:cNvPr id="1" name=""/>
        <p:cNvGrpSpPr/>
        <p:nvPr/>
      </p:nvGrpSpPr>
      <p:grpSpPr/>
      <p:sp>
        <p:nvSpPr>
          <p:cNvPr id="2" name="Title 1"/>
          <p:cNvSpPr>
            <a:spLocks noGrp="1"/>
          </p:cNvSpPr>
          <p:nvPr>
            <p:ph type="title"/>
          </p:nvPr>
        </p:nvSpPr>
        <p:spPr/>
        <p:txBody>
          <a:bodyPr/>
          <a:lstStyle/>
          <a:p>
            <a:pPr algn="l">
              <a:defRPr sz="4400" b="1">
                <a:solidFill>
                  <a:srgbClr val="228B22"/>
                </a:solidFill>
                <a:latin typeface="Calibri"/>
              </a:defRPr>
            </a:pPr>
            <a:r>
              <a:t>References &amp; Thank You</a:t>
            </a:r>
          </a:p>
        </p:txBody>
      </p:sp>
      <p:sp>
        <p:nvSpPr>
          <p:cNvPr id="3" name="Content Placeholder 2"/>
          <p:cNvSpPr>
            <a:spLocks noGrp="1"/>
          </p:cNvSpPr>
          <p:nvPr>
            <p:ph idx="1"/>
          </p:nvPr>
        </p:nvSpPr>
        <p:spPr/>
        <p:txBody>
          <a:bodyPr/>
          <a:lstStyle/>
          <a:p>
            <a:pPr algn="l">
              <a:spcBef>
                <a:spcPts val="1200"/>
              </a:spcBef>
              <a:spcAft>
                <a:spcPts val="1200"/>
              </a:spcAft>
              <a:defRPr sz="2400" b="0">
                <a:solidFill>
                  <a:srgbClr val="3C3C3C"/>
                </a:solidFill>
                <a:latin typeface="Calibri"/>
              </a:defRPr>
            </a:pPr>
            <a:r>
              <a:t>Slide </a:t>
            </a:r>
          </a:p>
          <a:p>
            <a:pPr algn="l">
              <a:spcBef>
                <a:spcPts val="1200"/>
              </a:spcBef>
              <a:spcAft>
                <a:spcPts val="1200"/>
              </a:spcAft>
              <a:defRPr sz="2400" b="0">
                <a:solidFill>
                  <a:srgbClr val="3C3C3C"/>
                </a:solidFill>
                <a:latin typeface="Calibri"/>
              </a:defRPr>
            </a:pPr>
            <a:r>
              <a:t>This slide contains the reference for the chess example and expresses gratitude towards the individuals who contributed to the lecture's content and examples.</a:t>
            </a:r>
          </a:p>
        </p:txBody>
      </p:sp>
      <p:sp>
        <p:nvSpPr>
          <p:cNvPr id="4" name="Rectangle 3"/>
          <p:cNvSpPr/>
          <p:nvPr/>
        </p:nvSpPr>
        <p:spPr>
          <a:xfrm>
            <a:off x="182880" y="457200"/>
            <a:ext cx="91440" cy="5943600"/>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6400800"/>
            <a:ext cx="11795760" cy="18288"/>
          </a:xfrm>
          <a:prstGeom prst="rect">
            <a:avLst/>
          </a:prstGeom>
          <a:solidFill>
            <a:srgbClr val="3CB3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47120" y="6492240"/>
            <a:ext cx="457200" cy="274320"/>
          </a:xfrm>
          <a:prstGeom prst="rect">
            <a:avLst/>
          </a:prstGeom>
          <a:noFill/>
        </p:spPr>
        <p:txBody>
          <a:bodyPr wrap="none">
            <a:spAutoFit/>
          </a:bodyPr>
          <a:lstStyle/>
          <a:p>
            <a:pPr algn="r">
              <a:defRPr sz="1200">
                <a:solidFill>
                  <a:srgbClr val="3C3C3C"/>
                </a:solidFill>
              </a:defRPr>
            </a:pPr>
            <a:r>
              <a:t>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