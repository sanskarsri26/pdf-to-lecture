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2F5496"/>
                </a:solidFill>
                <a:latin typeface="Calibri"/>
              </a:defRPr>
            </a:pPr>
            <a:r>
              <a:t>Proving Non-Context-Freedom: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This lecture focuses on proving that certain languages are not context-free.  We'll use the Pumping Lemma for context-free languages, a powerful tool that allows us to demonstrate the limitations of context-free grammars.  The lemma essentially states that in a context-free language, sufficiently long strings can be "pumped" – meaning a portion of the string can be repeated without leaving the language.  By showing that this property fails for a given language, we prove it's non-context-free. This is crucial in understanding the expressive power of different formal language classes.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8B4513"/>
                </a:solidFill>
                <a:latin typeface="Calibri"/>
              </a:defRPr>
            </a:pPr>
            <a:r>
              <a:t>Outline and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Today's lecture will cover three examples of proving non-context-freedom:  L&lt;sub&gt;1&lt;/sub&gt; = {a&lt;sup&gt;n&lt;/sup&gt;b&lt;sup&gt;n&lt;/sup&gt;c&lt;sup&gt;n&lt;/sup&gt; | n ≥ 0}, L&lt;sub&gt;2&lt;/sub&gt; = {a&lt;sup&gt;i&lt;/sup&gt;b&lt;sup&gt;j&lt;/sup&gt;c&lt;sup&gt;k&lt;/sup&gt; | 0 ≤ i ≤ j ≤ k}, and L&lt;sub&gt;3&lt;/sub&gt; = {ss | s ∈ {0, 1}}.  We will use the Pumping Lemma in each case.  For further reading and a more detailed mathematical treatment, please refer to Section 2.3 (pp. 128-129) of Sipser's "Introduction to the Theory of Computation." This text provides a robust foundation in automata theory and formal languages.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228B22"/>
                </a:solidFill>
                <a:latin typeface="Calibri"/>
              </a:defRPr>
            </a:pPr>
            <a:r>
              <a:t>The Pumping Lemma for Context-Free Languages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The Pumping Lemma states that for any context-free language L, there exists a pumping length p such that any string w in L with |w| ≥ p can be divided into five parts: w = uvxyz.  Crucially, three conditions must hold: (1) for all i ≥ 0, uv&lt;sup&gt;i&lt;/sup&gt;xy&lt;sup&gt;i&lt;/sup&gt;z ∈ L; (2) |vy| &gt; 0; and (3) |vxy| ≤ p. This means we can repeat the substring v and y any number of times, and the resulting string will still be in the language. This forms the basis of our proof technique.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2F5496"/>
                </a:solidFill>
                <a:latin typeface="Calibri"/>
              </a:defRPr>
            </a:pPr>
            <a:r>
              <a:t>Proving Non-Context-Freedom: L&lt;sub&gt;1&lt;/sub&gt;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Let's prove L&lt;sub&gt;1&lt;/sub&gt; = {a&lt;sup&gt;n&lt;/sup&gt;b&lt;sup&gt;n&lt;/sup&gt;c&lt;sup&gt;n&lt;/sup&gt; | n ≥ 0} is non-context-free.  Assume, for the sake of contradiction, that L&lt;sub&gt;1&lt;/sub&gt; is context-free. Let p be the pumping length given by the Pumping Lemma. Consider the string w = a&lt;sup&gt;p&lt;/sup&gt;b&lt;sup&gt;p&lt;/sup&gt;c&lt;sup&gt;p&lt;/sup&gt;.  Clearly, w ∈ L&lt;sub&gt;1&lt;/sub&gt; and |w| ≥ p. We need to show that any valid division of w into uvxyz satisfying the Pumping Lemma’s conditions will lead to a contradiction. We’ll consider this in two cases: those where v and y contain only one type of symbol and those where v or y contain multiple symbol types.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8B4513"/>
                </a:solidFill>
                <a:latin typeface="Calibri"/>
              </a:defRPr>
            </a:pPr>
            <a:r>
              <a:t>Proving Non-Context-Freedom: L&lt;sub&gt;1&lt;/sub&gt; - Case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Consider any division w = uvxyz where both v and y contain only one type of alphabet symbol (a, b, or c).  Regardless of which symbol(s) v and y contain, there will always be at least one symbol type missing from both v and y.  Therefore, uv&lt;sup&gt;2&lt;/sup&gt;xy&lt;sup&gt;2&lt;/sup&gt;z cannot have an equal number of a's, b's, and c's. This means uv&lt;sup&gt;2&lt;/sup&gt;xy&lt;sup&gt;2&lt;/sup&gt;z ∉ L&lt;sub&gt;1&lt;/sub&gt;, a contradiction.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228B22"/>
                </a:solidFill>
                <a:latin typeface="Calibri"/>
              </a:defRPr>
            </a:pPr>
            <a:r>
              <a:t>Proving Non-Context-Freedom: L&lt;sub&gt;1&lt;/sub&gt; - Case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Now, consider divisions w = uvxyz where v or y contains multiple types of alphabet symbols (e.g., v contains both a's and b's). Pumping v and y will disrupt the a&lt;sup&gt;n&lt;/sup&gt;b&lt;sup&gt;n&lt;/sup&gt;c&lt;sup&gt;n&lt;/sup&gt; pattern.  For example, pumping up might result in more a's than b's, or more b's than c's.  This again leads to uv&lt;sup&gt;i&lt;/sup&gt;xy&lt;sup&gt;i&lt;/sup&gt;z ∉ L&lt;sub&gt;1&lt;/sub&gt; for some i, creating a contradiction. Since both cases result in a contradiction, L&lt;sub&gt;1&lt;/sub&gt; must be non-context-free.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2F5496"/>
                </a:solidFill>
                <a:latin typeface="Calibri"/>
              </a:defRPr>
            </a:pPr>
            <a:r>
              <a:t>Proving Non-Context-Freedom: L&lt;sub&gt;2&lt;/sub&gt;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Let's move on to L&lt;sub&gt;2&lt;/sub&gt; = {a&lt;sup&gt;i&lt;/sup&gt;b&lt;sup&gt;j&lt;/sup&gt;c&lt;sup&gt;k&lt;/sup&gt; | 0 ≤ i ≤ j ≤ k}. We follow the same approach: assume L&lt;sub&gt;2&lt;/sub&gt; is context-free, let p be the pumping length, and choose w = a&lt;sup&gt;p&lt;/sup&gt;b&lt;sup&gt;p&lt;/sup&gt;c&lt;sup&gt;p&lt;/sup&gt;. Again, we'll analyze different cases based on the content of the pumped substrings v and y.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8B4513"/>
                </a:solidFill>
                <a:latin typeface="Calibri"/>
              </a:defRPr>
            </a:pPr>
            <a:r>
              <a:t>Proving Non-Context-Freedom: L&lt;sub&gt;2&lt;/sub&gt; - Case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We consider divisions w = uvxyz where v and y each contain only one type of symbol.  Unlike L&lt;sub&gt;1&lt;/sub&gt;, simply having one symbol type missing isn't enough for a contradiction.  Here, we subdivide Case 1 into three subcases: (a) v and y contain no a's; (b) v and y contain no b's; (c) v and y contain no c's. We'll analyze each subcase to find a contradiction.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228B22"/>
                </a:solidFill>
                <a:latin typeface="Calibri"/>
              </a:defRPr>
            </a:pPr>
            <a:r>
              <a:t>Proving Non-Context-Freedom: L&lt;sub&gt;2&lt;/sub&gt; - Case 1(a) &amp; (b)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(a) If v and y don't contain a's, pumping down (i = 0) reduces the number of b's or c's, violating the i ≤ j ≤ k condition. (b) If v and y don't contain b's, at least one of v or y must contain a's or c's.  Pumping will either increase a's relative to b's or c's relative to b's.  Both scenarios cause a violation of i ≤ j ≤ k, resulting in a contradiction.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2F5496"/>
                </a:solidFill>
                <a:latin typeface="Calibri"/>
              </a:defRPr>
            </a:pPr>
            <a:r>
              <a:t>Proving Non-Context-Freedom: L&lt;sub&gt;2&lt;/sub&gt; - Case 1(c)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(c) If v and y don't contain c's, pumping up (i &gt; 1) will increase the number of a's or b's, potentially breaking the i ≤ j ≤ k condition.  Therefore, this subcase also leads to a contradiction.  Since all three subcases of Case 1 yield contradictions, Case 1 itself is proven.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8B4513"/>
                </a:solidFill>
                <a:latin typeface="Calibri"/>
              </a:defRPr>
            </a:pPr>
            <a:r>
              <a:t>Proving Non-Context-Freedom: L&lt;sub&gt;2&lt;/sub&gt; - Case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Case 2 considers v or y containing multiple symbol types. Pumping will disrupt the order of a's, b's, and c's, violating the i ≤ j ≤ k constraint, leading to a contradiction.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228B22"/>
                </a:solidFill>
                <a:latin typeface="Calibri"/>
              </a:defRPr>
            </a:pPr>
            <a:r>
              <a:t>Proving Non-Context-Freedom: L&lt;sub&gt;3&lt;/sub&gt; - First Attempt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Let's tackle L&lt;sub&gt;3&lt;/sub&gt; = {ss | s ∈ {0, 1}}.  This example demonstrates that choosing the correct string for the Pumping Lemma is crucial. Suppose we initially let s = 0&lt;sup&gt;p&lt;/sup&gt;1&lt;sup&gt;p&lt;/sup&gt; and w = ss. This string can be pumped without violating the condition of being in L3, thus not immediately leading to a contradiction. We need to revise our approach.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2F5496"/>
                </a:solidFill>
                <a:latin typeface="Calibri"/>
              </a:defRPr>
            </a:pPr>
            <a:r>
              <a:t>Proving Non-Context-Freedom: L&lt;sub&gt;3&lt;/sub&gt; - Corrected Proof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The previous attempt failed because we could pump the string.  Let's revisit this.  Consider any division w = uvxyz where |vy| &gt; 0 and |vxy| ≤ p.  If vxy is contained in the first half of w, then uv&lt;sup&gt;i&lt;/sup&gt;xy&lt;sup&gt;i&lt;/sup&gt;z will start with a 0 but have a 1 in its second half (this is true because the length of vxy is less than or equal to p).  Similarly, if vxy is in the second half, the opposite situation arises.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416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8B4513"/>
                </a:solidFill>
                <a:latin typeface="Calibri"/>
              </a:defRPr>
            </a:pPr>
            <a:r>
              <a:t>Proving Non-Context-Freedom: L&lt;sub&gt;3&lt;/sub&gt; - Final Argument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The only remaining possibility is that vxy straddles the midpoint of w. Because |vxy| ≤ p, v and y must be in the middle part of w.  Pumping down (i = 0) will create a string that violates the ss condition. Thus, no matter which division we choose, we always arrive at a contradiction. Consequently, L&lt;sub&gt;3&lt;/sub&gt; is not context-free.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D26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4400" b="1">
                <a:solidFill>
                  <a:srgbClr val="228B22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spcBef>
                <a:spcPts val="1200"/>
              </a:spcBef>
              <a:spcAft>
                <a:spcPts val="1200"/>
              </a:spcAft>
              <a:defRPr sz="2400" b="0">
                <a:solidFill>
                  <a:srgbClr val="3C3C3C"/>
                </a:solidFill>
                <a:latin typeface="Calibri"/>
              </a:defRPr>
            </a:pPr>
            <a:r>
              <a:t>In this lecture, we successfully used the Pumping Lemma to prove that L&lt;sub&gt;1&lt;/sub&gt;, L&lt;sub&gt;2&lt;/sub&gt;, and L&lt;sub&gt;3&lt;/sub&gt; are non-context-free.  This demonstrates the power of the lemma in analyzing the limitations of context-free languages.  Remember that choosing the right string and carefully analyzing the possible pump positions are critical for successful application of this method.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457200"/>
            <a:ext cx="91440" cy="5943600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6400800"/>
            <a:ext cx="11795760" cy="18288"/>
          </a:xfrm>
          <a:prstGeom prst="rect">
            <a:avLst/>
          </a:prstGeom>
          <a:solidFill>
            <a:srgbClr val="3CB3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C3C3C"/>
                </a:solidFill>
              </a:defRPr>
            </a:pPr>
            <a: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