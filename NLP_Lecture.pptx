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Natural Language Processing (NLP): A Deep Dive</a:t>
            </a:r>
          </a:p>
        </p:txBody>
      </p:sp>
      <p:sp>
        <p:nvSpPr>
          <p:cNvPr id="3" name="Subtitle 2"/>
          <p:cNvSpPr>
            <a:spLocks noGrp="1"/>
          </p:cNvSpPr>
          <p:nvPr>
            <p:ph type="subTitle" idx="1"/>
          </p:nvPr>
        </p:nvSpPr>
        <p:spPr/>
        <p:txBody>
          <a:bodyPr/>
          <a:lstStyle/>
          <a:p>
            <a:r>
              <a:t>[Your Name/Institution]</a:t>
            </a:r>
          </a:p>
          <a:p>
            <a:r>
              <a:t>[Date]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Natural Language Processing: Understanding and Shaping Human-Computer Interaction</a:t>
            </a:r>
          </a:p>
        </p:txBody>
      </p:sp>
      <p:sp>
        <p:nvSpPr>
          <p:cNvPr id="3" name="Content Placeholder 2"/>
          <p:cNvSpPr>
            <a:spLocks noGrp="1"/>
          </p:cNvSpPr>
          <p:nvPr>
            <p:ph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Time: ~60 minutes)**</a:t>
            </a:r>
          </a:p>
        </p:txBody>
      </p:sp>
      <p:sp>
        <p:nvSpPr>
          <p:cNvPr id="3" name="Content Placeholder 2"/>
          <p:cNvSpPr>
            <a:spLocks noGrp="1"/>
          </p:cNvSpPr>
          <p:nvPr>
            <p:ph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1: Title Slide (2 minutes)**</a:t>
            </a:r>
          </a:p>
        </p:txBody>
      </p:sp>
      <p:sp>
        <p:nvSpPr>
          <p:cNvPr id="3" name="Content Placeholder 2"/>
          <p:cNvSpPr>
            <a:spLocks noGrp="1"/>
          </p:cNvSpPr>
          <p:nvPr>
            <p:ph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**Title:** Natural Language Processing: Understanding and Shaping Human-Computer Interaction</a:t>
            </a:r>
          </a:p>
        </p:txBody>
      </p:sp>
      <p:sp>
        <p:nvSpPr>
          <p:cNvPr id="3" name="Content Placeholder 2"/>
          <p:cNvSpPr>
            <a:spLocks noGrp="1"/>
          </p:cNvSpPr>
          <p:nvPr>
            <p:ph idx="1"/>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**Subtitle:** A Journey into the World of Text and Speech Understanding</a:t>
            </a:r>
          </a:p>
        </p:txBody>
      </p:sp>
      <p:sp>
        <p:nvSpPr>
          <p:cNvPr id="3" name="Content Placeholder 2"/>
          <p:cNvSpPr>
            <a:spLocks noGrp="1"/>
          </p:cNvSpPr>
          <p:nvPr>
            <p:ph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**Your Name &amp; Affiliation**</a:t>
            </a:r>
          </a:p>
        </p:txBody>
      </p:sp>
      <p:sp>
        <p:nvSpPr>
          <p:cNvPr id="3" name="Content Placeholder 2"/>
          <p:cNvSpPr>
            <a:spLocks noGrp="1"/>
          </p:cNvSpPr>
          <p:nvPr>
            <p:ph idx="1"/>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**Date**</a:t>
            </a:r>
          </a:p>
        </p:txBody>
      </p:sp>
      <p:sp>
        <p:nvSpPr>
          <p:cNvPr id="3" name="Content Placeholder 2"/>
          <p:cNvSpPr>
            <a:spLocks noGrp="1"/>
          </p:cNvSpPr>
          <p:nvPr>
            <p:ph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**(Speaker Notes):** Good morning, everyone. Welcome to this lecture on Natural Language Processing.  Over the next hour, we'll explore the fascinating field of NLP, examining its core components, practical applications, and future directions.  This field is rapidly evolving, impacting how we interact with technology daily. Let's dive in!  (Transition to next slide)</a:t>
            </a:r>
          </a:p>
        </p:txBody>
      </p:sp>
      <p:sp>
        <p:nvSpPr>
          <p:cNvPr id="3" name="Content Placeholder 2"/>
          <p:cNvSpPr>
            <a:spLocks noGrp="1"/>
          </p:cNvSpPr>
          <p:nvPr>
            <p:ph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2: Introduction to NLP (5 minutes)**</a:t>
            </a:r>
          </a:p>
        </p:txBody>
      </p:sp>
      <p:sp>
        <p:nvSpPr>
          <p:cNvPr id="3" name="Content Placeholder 2"/>
          <p:cNvSpPr>
            <a:spLocks noGrp="1"/>
          </p:cNvSpPr>
          <p:nvPr>
            <p:ph idx="1"/>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**Title:** What is Natural Language Processing (NLP)?</a:t>
            </a:r>
          </a:p>
        </p:txBody>
      </p:sp>
      <p:sp>
        <p:nvSpPr>
          <p:cNvPr id="3" name="Content Placeholder 2"/>
          <p:cNvSpPr>
            <a:spLocks noGrp="1"/>
          </p:cNvSpPr>
          <p:nvPr>
            <p:ph idx="1"/>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**Bullet Points:**</a:t>
            </a:r>
          </a:p>
        </p:txBody>
      </p:sp>
      <p:sp>
        <p:nvSpPr>
          <p:cNvPr id="3" name="Content Placeholder 2"/>
          <p:cNvSpPr>
            <a:spLocks noGrp="1"/>
          </p:cNvSpPr>
          <p:nvPr>
            <p:ph idx="1"/>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Definition:  Enabling computers to understand, interpret, and generate human language.</a:t>
            </a:r>
          </a:p>
        </p:txBody>
      </p:sp>
      <p:sp>
        <p:nvSpPr>
          <p:cNvPr id="3" name="Content Placeholder 2"/>
          <p:cNvSpPr>
            <a:spLocks noGrp="1"/>
          </p:cNvSpPr>
          <p:nvPr>
            <p:ph idx="1"/>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Importance: Bridging the gap between human communication and machine understanding.</a:t>
            </a:r>
          </a:p>
        </p:txBody>
      </p:sp>
      <p:sp>
        <p:nvSpPr>
          <p:cNvPr id="3" name="Content Placeholder 2"/>
          <p:cNvSpPr>
            <a:spLocks noGrp="1"/>
          </p:cNvSpPr>
          <p:nvPr>
            <p:ph idx="1"/>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Real-world Applications: (Visual: show icons representing applications like chatbots, machine translation, sentiment analysis, speech recognition)  Chatbots, Machine Translation, Sentiment Analysis, Text Summarization, Speech Recognition, etc.</a:t>
            </a:r>
          </a:p>
        </p:txBody>
      </p:sp>
      <p:sp>
        <p:nvSpPr>
          <p:cNvPr id="3" name="Content Placeholder 2"/>
          <p:cNvSpPr>
            <a:spLocks noGrp="1"/>
          </p:cNvSpPr>
          <p:nvPr>
            <p:ph idx="1"/>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**(Speaker Notes):**  At its core, NLP aims to make computers understand and use human language. This isn't just about recognizing words; it's about comprehending the meaning, context, and intent behind them. This has led to a myriad of applications, from the chatbots assisting you online to the sophisticated machine translation systems we use daily.  Think about how often you interact with technology using natural language – it's becoming increasingly pervasive. (Transition to next slide,  possibly with a smooth animation showing the evolution of NLP applications)</a:t>
            </a:r>
          </a:p>
        </p:txBody>
      </p:sp>
      <p:sp>
        <p:nvSpPr>
          <p:cNvPr id="3" name="Content Placeholder 2"/>
          <p:cNvSpPr>
            <a:spLocks noGrp="1"/>
          </p:cNvSpPr>
          <p:nvPr>
            <p:ph idx="1"/>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3: How NLP Works: Core Components (7 minutes)**</a:t>
            </a:r>
          </a:p>
        </p:txBody>
      </p:sp>
      <p:sp>
        <p:nvSpPr>
          <p:cNvPr id="3" name="Content Placeholder 2"/>
          <p:cNvSpPr>
            <a:spLocks noGrp="1"/>
          </p:cNvSpPr>
          <p:nvPr>
            <p:ph idx="1"/>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**Title:** Deconstructing Language: The Building Blocks of NLP</a:t>
            </a:r>
          </a:p>
        </p:txBody>
      </p:sp>
      <p:sp>
        <p:nvSpPr>
          <p:cNvPr id="3" name="Content Placeholder 2"/>
          <p:cNvSpPr>
            <a:spLocks noGrp="1"/>
          </p:cNvSpPr>
          <p:nvPr>
            <p:ph idx="1"/>
          </p:nvPr>
        </p:nvSpPr>
        <p:spPr/>
        <p:txBody>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**Visual:** Flowchart illustrating the process:  Text Input -&gt; Tokenization -&gt; Parsing -&gt; Semantic Analysis -&gt; Output</a:t>
            </a:r>
          </a:p>
        </p:txBody>
      </p:sp>
      <p:sp>
        <p:nvSpPr>
          <p:cNvPr id="3" name="Content Placeholder 2"/>
          <p:cNvSpPr>
            <a:spLocks noGrp="1"/>
          </p:cNvSpPr>
          <p:nvPr>
            <p:ph idx="1"/>
          </p:nvPr>
        </p:nvSpPr>
        <p:spPr/>
        <p:txBody>
          <a:bodyP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**Bullet Points:**</a:t>
            </a:r>
          </a:p>
        </p:txBody>
      </p:sp>
      <p:sp>
        <p:nvSpPr>
          <p:cNvPr id="3" name="Content Placeholder 2"/>
          <p:cNvSpPr>
            <a:spLocks noGrp="1"/>
          </p:cNvSpPr>
          <p:nvPr>
            <p:ph idx="1"/>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Tokenization: Breaking down text into individual words or phrases (tokens).</a:t>
            </a:r>
          </a:p>
        </p:txBody>
      </p:sp>
      <p:sp>
        <p:nvSpPr>
          <p:cNvPr id="3" name="Content Placeholder 2"/>
          <p:cNvSpPr>
            <a:spLocks noGrp="1"/>
          </p:cNvSpPr>
          <p:nvPr>
            <p:ph idx="1"/>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Parsing: Analyzing sentence structure to identify grammatical relationships.</a:t>
            </a:r>
          </a:p>
        </p:txBody>
      </p:sp>
      <p:sp>
        <p:nvSpPr>
          <p:cNvPr id="3" name="Content Placeholder 2"/>
          <p:cNvSpPr>
            <a:spLocks noGrp="1"/>
          </p:cNvSpPr>
          <p:nvPr>
            <p:ph idx="1"/>
          </p:nvPr>
        </p:nvSpPr>
        <p:spPr/>
        <p:txBody>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Semantic Analysis: Understanding the meaning and context of words and sentences. (Explain the difference between syntax and semantics)</a:t>
            </a:r>
          </a:p>
        </p:txBody>
      </p:sp>
      <p:sp>
        <p:nvSpPr>
          <p:cNvPr id="3" name="Content Placeholder 2"/>
          <p:cNvSpPr>
            <a:spLocks noGrp="1"/>
          </p:cNvSpPr>
          <p:nvPr>
            <p:ph idx="1"/>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**(Speaker Notes):** To understand how NLP works, imagine teaching a computer to read.  First, we need to break down the text into smaller units, a process called tokenization. Then, we need to understand the grammatical structure, which is parsing.  Finally, and most importantly, we need to grasp the actual meaning – this is semantic analysis. These are crucial steps towards making sense of human language. (Point to each part of the flowchart as you explain it).</a:t>
            </a:r>
          </a:p>
        </p:txBody>
      </p:sp>
      <p:sp>
        <p:nvSpPr>
          <p:cNvPr id="3" name="Content Placeholder 2"/>
          <p:cNvSpPr>
            <a:spLocks noGrp="1"/>
          </p:cNvSpPr>
          <p:nvPr>
            <p:ph idx="1"/>
          </p:nvPr>
        </p:nvSpPr>
        <p:spPr/>
        <p:txBody>
          <a:bodyPr/>
          <a:lstStyle/>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4: Core Techniques (10 minutes)**</a:t>
            </a:r>
          </a:p>
        </p:txBody>
      </p:sp>
      <p:sp>
        <p:nvSpPr>
          <p:cNvPr id="3" name="Content Placeholder 2"/>
          <p:cNvSpPr>
            <a:spLocks noGrp="1"/>
          </p:cNvSpPr>
          <p:nvPr>
            <p:ph idx="1"/>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**Title:** The Power of Algorithms: Machine Learning and Deep Learning in NLP</a:t>
            </a:r>
          </a:p>
        </p:txBody>
      </p:sp>
      <p:sp>
        <p:nvSpPr>
          <p:cNvPr id="3" name="Content Placeholder 2"/>
          <p:cNvSpPr>
            <a:spLocks noGrp="1"/>
          </p:cNvSpPr>
          <p:nvPr>
            <p:ph idx="1"/>
          </p:nvPr>
        </p:nvSpPr>
        <p:spPr/>
        <p:txBody>
          <a:bodyPr/>
          <a:lstStyle/>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**Bullet Points:**</a:t>
            </a:r>
          </a:p>
        </p:txBody>
      </p:sp>
      <p:sp>
        <p:nvSpPr>
          <p:cNvPr id="3" name="Content Placeholder 2"/>
          <p:cNvSpPr>
            <a:spLocks noGrp="1"/>
          </p:cNvSpPr>
          <p:nvPr>
            <p:ph idx="1"/>
          </p:nvPr>
        </p:nvSpPr>
        <p:spPr/>
        <p:txBody>
          <a:bodyPr/>
          <a:lstStyle/>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Machine Learning (ML): Traditional methods like Naive Bayes, Support Vector Machines (SVMs), used for tasks like sentiment analysis, text classification.</a:t>
            </a:r>
          </a:p>
        </p:txBody>
      </p:sp>
      <p:sp>
        <p:nvSpPr>
          <p:cNvPr id="3" name="Content Placeholder 2"/>
          <p:cNvSpPr>
            <a:spLocks noGrp="1"/>
          </p:cNvSpPr>
          <p:nvPr>
            <p:ph idx="1"/>
          </p:nvPr>
        </p:nvSpPr>
        <p:spPr/>
        <p:txBody>
          <a:bodyPr/>
          <a:lstStyle/>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Deep Learning (DL): Neural networks, particularly Recurrent Neural Networks (RNNs) and Long Short-Term Memory (LSTMs) for sequential data like text.  Introduce the concept of word embeddings (Word2Vec, GloVe).</a:t>
            </a:r>
          </a:p>
        </p:txBody>
      </p:sp>
      <p:sp>
        <p:nvSpPr>
          <p:cNvPr id="3" name="Content Placeholder 2"/>
          <p:cNvSpPr>
            <a:spLocks noGrp="1"/>
          </p:cNvSpPr>
          <p:nvPr>
            <p:ph idx="1"/>
          </p:nvPr>
        </p:nvSpPr>
        <p:spPr/>
        <p:txBody>
          <a:bodyPr/>
          <a:lstStyle/>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Transformer Models: Attention mechanisms, significantly improved performance, examples: BERT, GPT-3. (Visual: simple diagram comparing RNN and Transformer architecture)</a:t>
            </a:r>
          </a:p>
        </p:txBody>
      </p:sp>
      <p:sp>
        <p:nvSpPr>
          <p:cNvPr id="3" name="Content Placeholder 2"/>
          <p:cNvSpPr>
            <a:spLocks noGrp="1"/>
          </p:cNvSpPr>
          <p:nvPr>
            <p:ph idx="1"/>
          </p:nvPr>
        </p:nvSpPr>
        <p:spPr/>
        <p:txBody>
          <a:bodyPr/>
          <a:lstStyle/>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**(Speaker Notes):**  The power of NLP comes from algorithms.  Traditionally, machine learning techniques were used, but deep learning has revolutionized the field. Deep learning models, particularly recurrent neural networks, excel at handling the sequential nature of language.  However, the recent breakthroughs have been driven by transformer models, which use attention mechanisms to process information more efficiently. These models are behind many of the advancements we see today, like the highly sophisticated language models that power chatbots and writing assistants. (Explain the key difference between RNN and Transformer, emphasizing attention mechanism)</a:t>
            </a:r>
          </a:p>
        </p:txBody>
      </p:sp>
      <p:sp>
        <p:nvSpPr>
          <p:cNvPr id="3" name="Content Placeholder 2"/>
          <p:cNvSpPr>
            <a:spLocks noGrp="1"/>
          </p:cNvSpPr>
          <p:nvPr>
            <p:ph idx="1"/>
          </p:nvPr>
        </p:nvSpPr>
        <p:spPr/>
        <p:txBody>
          <a:bodyPr/>
          <a:lstStyle/>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5: Real-World Challenges (7 minutes)**</a:t>
            </a:r>
          </a:p>
        </p:txBody>
      </p:sp>
      <p:sp>
        <p:nvSpPr>
          <p:cNvPr id="3" name="Content Placeholder 2"/>
          <p:cNvSpPr>
            <a:spLocks noGrp="1"/>
          </p:cNvSpPr>
          <p:nvPr>
            <p:ph idx="1"/>
          </p:nvPr>
        </p:nvSpPr>
        <p:spPr/>
        <p:txBody>
          <a:bodyPr/>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**Title:** Navigating the Complexities of Language</a:t>
            </a:r>
          </a:p>
        </p:txBody>
      </p:sp>
      <p:sp>
        <p:nvSpPr>
          <p:cNvPr id="3" name="Content Placeholder 2"/>
          <p:cNvSpPr>
            <a:spLocks noGrp="1"/>
          </p:cNvSpPr>
          <p:nvPr>
            <p:ph idx="1"/>
          </p:nvPr>
        </p:nvSpPr>
        <p:spPr/>
        <p:txBody>
          <a:bodyPr/>
          <a:lstStyle/>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**Bullet Points:**</a:t>
            </a:r>
          </a:p>
        </p:txBody>
      </p:sp>
      <p:sp>
        <p:nvSpPr>
          <p:cNvPr id="3" name="Content Placeholder 2"/>
          <p:cNvSpPr>
            <a:spLocks noGrp="1"/>
          </p:cNvSpPr>
          <p:nvPr>
            <p:ph idx="1"/>
          </p:nvPr>
        </p:nvSpPr>
        <p:spPr/>
        <p:txBody>
          <a:bodyPr/>
          <a:lstStyle/>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Ambiguity: Words and sentences can have multiple meanings depending on context.</a:t>
            </a:r>
          </a:p>
        </p:txBody>
      </p:sp>
      <p:sp>
        <p:nvSpPr>
          <p:cNvPr id="3" name="Content Placeholder 2"/>
          <p:cNvSpPr>
            <a:spLocks noGrp="1"/>
          </p:cNvSpPr>
          <p:nvPr>
            <p:ph idx="1"/>
          </p:nvPr>
        </p:nvSpPr>
        <p:spPr/>
        <p:txBody>
          <a:bodyPr/>
          <a:lstStyle/>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Contextual Understanding: Meaning often depends on surrounding words and sentences.</a:t>
            </a:r>
          </a:p>
        </p:txBody>
      </p:sp>
      <p:sp>
        <p:nvSpPr>
          <p:cNvPr id="3" name="Content Placeholder 2"/>
          <p:cNvSpPr>
            <a:spLocks noGrp="1"/>
          </p:cNvSpPr>
          <p:nvPr>
            <p:ph idx="1"/>
          </p:nvPr>
        </p:nvSpPr>
        <p:spPr/>
        <p:txBody>
          <a:bodyPr/>
          <a:lstStyle/>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Handling Large Datasets: Training complex models requires massive amounts of data. (Visual: Examples of ambiguous sentences and challenges related to context)</a:t>
            </a:r>
          </a:p>
        </p:txBody>
      </p:sp>
      <p:sp>
        <p:nvSpPr>
          <p:cNvPr id="3" name="Content Placeholder 2"/>
          <p:cNvSpPr>
            <a:spLocks noGrp="1"/>
          </p:cNvSpPr>
          <p:nvPr>
            <p:ph idx="1"/>
          </p:nvPr>
        </p:nvSpPr>
        <p:spPr/>
        <p:txBody>
          <a:bodyPr/>
          <a:lstStyle/>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**(Speaker Notes):**  Despite impressive advancements, NLP still faces significant challenges. Human language is inherently ambiguous. A single word can have multiple meanings, and understanding the intended meaning often requires understanding the context.  Furthermore, training these powerful models requires huge datasets, making data acquisition and curation a significant hurdle. (Show the example sentences, highlighting the ambiguity and contextual issues).</a:t>
            </a:r>
          </a:p>
        </p:txBody>
      </p:sp>
      <p:sp>
        <p:nvSpPr>
          <p:cNvPr id="3" name="Content Placeholder 2"/>
          <p:cNvSpPr>
            <a:spLocks noGrp="1"/>
          </p:cNvSpPr>
          <p:nvPr>
            <p:ph idx="1"/>
          </p:nvPr>
        </p:nvSpPr>
        <p:spPr/>
        <p:txBody>
          <a:bodyPr/>
          <a:lstStyle/>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6: Future of NLP (10 minutes)**</a:t>
            </a:r>
          </a:p>
        </p:txBody>
      </p:sp>
      <p:sp>
        <p:nvSpPr>
          <p:cNvPr id="3" name="Content Placeholder 2"/>
          <p:cNvSpPr>
            <a:spLocks noGrp="1"/>
          </p:cNvSpPr>
          <p:nvPr>
            <p:ph idx="1"/>
          </p:nvPr>
        </p:nvSpPr>
        <p:spPr/>
        <p:txBody>
          <a:bodyPr/>
          <a:lstStyle/>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**Title:** The Evolving Landscape of NLP: Trends and Ethical Considerations</a:t>
            </a:r>
          </a:p>
        </p:txBody>
      </p:sp>
      <p:sp>
        <p:nvSpPr>
          <p:cNvPr id="3" name="Content Placeholder 2"/>
          <p:cNvSpPr>
            <a:spLocks noGrp="1"/>
          </p:cNvSpPr>
          <p:nvPr>
            <p:ph idx="1"/>
          </p:nvPr>
        </p:nvSpPr>
        <p:spPr/>
        <p:txBody>
          <a:bodyPr/>
          <a:lstStyle/>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**Bullet Points:**</a:t>
            </a:r>
          </a:p>
        </p:txBody>
      </p:sp>
      <p:sp>
        <p:nvSpPr>
          <p:cNvPr id="3" name="Content Placeholder 2"/>
          <p:cNvSpPr>
            <a:spLocks noGrp="1"/>
          </p:cNvSpPr>
          <p:nvPr>
            <p:ph idx="1"/>
          </p:nvPr>
        </p:nvSpPr>
        <p:spPr/>
        <p:txBody>
          <a:bodyP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Multilingual Models: Processing and translating multiple languages simultaneously.</a:t>
            </a:r>
          </a:p>
        </p:txBody>
      </p:sp>
      <p:sp>
        <p:nvSpPr>
          <p:cNvPr id="3" name="Content Placeholder 2"/>
          <p:cNvSpPr>
            <a:spLocks noGrp="1"/>
          </p:cNvSpPr>
          <p:nvPr>
            <p:ph idx="1"/>
          </p:nvPr>
        </p:nvSpPr>
        <p:spPr/>
        <p:txBody>
          <a:bodyPr/>
          <a:lstStyle/>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Real-time Processing:  Instantaneous language understanding and generation.</a:t>
            </a:r>
          </a:p>
        </p:txBody>
      </p:sp>
      <p:sp>
        <p:nvSpPr>
          <p:cNvPr id="3" name="Content Placeholder 2"/>
          <p:cNvSpPr>
            <a:spLocks noGrp="1"/>
          </p:cNvSpPr>
          <p:nvPr>
            <p:ph idx="1"/>
          </p:nvPr>
        </p:nvSpPr>
        <p:spPr/>
        <p:txBody>
          <a:bodyPr/>
          <a:lstStyle/>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Ethical Considerations: Bias in datasets, responsible AI development, and potential misuse. (Visual: showcase examples of multilingual applications, real-time applications and ethical dilemmas)</a:t>
            </a:r>
          </a:p>
        </p:txBody>
      </p:sp>
      <p:sp>
        <p:nvSpPr>
          <p:cNvPr id="3" name="Content Placeholder 2"/>
          <p:cNvSpPr>
            <a:spLocks noGrp="1"/>
          </p:cNvSpPr>
          <p:nvPr>
            <p:ph idx="1"/>
          </p:nvPr>
        </p:nvSpPr>
        <p:spPr/>
        <p:txBody>
          <a:bodyPr/>
          <a:lstStyle/>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**(Speaker Notes):** The future of NLP is bright. We're seeing a push towards multilingual models that can handle multiple languages seamlessly, and real-time processing is becoming increasingly important.  However, we must also consider the ethical implications. Biases in training data can lead to unfair or discriminatory outcomes. Responsible AI development is crucial to ensure that NLP technologies are used ethically and benefit society as a whole. (Discuss specific examples of bias, responsible AI initiatives, and potential misuse of NLP technology).</a:t>
            </a:r>
          </a:p>
        </p:txBody>
      </p:sp>
      <p:sp>
        <p:nvSpPr>
          <p:cNvPr id="3" name="Content Placeholder 2"/>
          <p:cNvSpPr>
            <a:spLocks noGrp="1"/>
          </p:cNvSpPr>
          <p:nvPr>
            <p:ph idx="1"/>
          </p:nvPr>
        </p:nvSpPr>
        <p:spPr/>
        <p:txBody>
          <a:bodyPr/>
          <a:lstStyle/>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7: Conclusion &amp; Q&amp;A (5 minutes)**</a:t>
            </a:r>
          </a:p>
        </p:txBody>
      </p:sp>
      <p:sp>
        <p:nvSpPr>
          <p:cNvPr id="3" name="Content Placeholder 2"/>
          <p:cNvSpPr>
            <a:spLocks noGrp="1"/>
          </p:cNvSpPr>
          <p:nvPr>
            <p:ph idx="1"/>
          </p:nvPr>
        </p:nvSpPr>
        <p:spPr/>
        <p:txBody>
          <a:bodyPr/>
          <a:lstStyle/>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**Title:**  Key Takeaways and Future Directions</a:t>
            </a:r>
          </a:p>
        </p:txBody>
      </p:sp>
      <p:sp>
        <p:nvSpPr>
          <p:cNvPr id="3" name="Content Placeholder 2"/>
          <p:cNvSpPr>
            <a:spLocks noGrp="1"/>
          </p:cNvSpPr>
          <p:nvPr>
            <p:ph idx="1"/>
          </p:nvPr>
        </p:nvSpPr>
        <p:spPr/>
        <p:txBody>
          <a:bodyPr/>
          <a:lstStyle/>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**Bullet Points:**</a:t>
            </a:r>
          </a:p>
        </p:txBody>
      </p:sp>
      <p:sp>
        <p:nvSpPr>
          <p:cNvPr id="3" name="Content Placeholder 2"/>
          <p:cNvSpPr>
            <a:spLocks noGrp="1"/>
          </p:cNvSpPr>
          <p:nvPr>
            <p:ph idx="1"/>
          </p:nvPr>
        </p:nvSpPr>
        <p:spPr/>
        <p:txBody>
          <a:bodyPr/>
          <a:lstStyle/>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Summary of key concepts discussed.</a:t>
            </a:r>
          </a:p>
        </p:txBody>
      </p:sp>
      <p:sp>
        <p:nvSpPr>
          <p:cNvPr id="3" name="Content Placeholder 2"/>
          <p:cNvSpPr>
            <a:spLocks noGrp="1"/>
          </p:cNvSpPr>
          <p:nvPr>
            <p:ph idx="1"/>
          </p:nvPr>
        </p:nvSpPr>
        <p:spPr/>
        <p:txBody>
          <a:bodyPr/>
          <a:lstStyle/>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NLP’s transformative impact across various industries.</a:t>
            </a:r>
          </a:p>
        </p:txBody>
      </p:sp>
      <p:sp>
        <p:nvSpPr>
          <p:cNvPr id="3" name="Content Placeholder 2"/>
          <p:cNvSpPr>
            <a:spLocks noGrp="1"/>
          </p:cNvSpPr>
          <p:nvPr>
            <p:ph idx="1"/>
          </p:nvPr>
        </p:nvSpPr>
        <p:spPr/>
        <p:txBody>
          <a:bodyPr/>
          <a:lstStyle/>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Open discussion and Q&amp;A.</a:t>
            </a:r>
          </a:p>
        </p:txBody>
      </p:sp>
      <p:sp>
        <p:nvSpPr>
          <p:cNvPr id="3" name="Content Placeholder 2"/>
          <p:cNvSpPr>
            <a:spLocks noGrp="1"/>
          </p:cNvSpPr>
          <p:nvPr>
            <p:ph idx="1"/>
          </p:nvPr>
        </p:nvSpPr>
        <p:spPr/>
        <p:txBody>
          <a:bodyPr/>
          <a:lstStyle/>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**(Speaker Notes):** In conclusion, NLP is a powerful and rapidly evolving field with vast potential.  We've explored its core components, techniques, challenges, and future directions.  It's impacting numerous industries and will continue to shape our interaction with technology.  Now, I'd be happy to answer any questions you may have. (Open the floor for questions and discussion).</a:t>
            </a:r>
          </a:p>
        </p:txBody>
      </p:sp>
      <p:sp>
        <p:nvSpPr>
          <p:cNvPr id="3" name="Content Placeholder 2"/>
          <p:cNvSpPr>
            <a:spLocks noGrp="1"/>
          </p:cNvSpPr>
          <p:nvPr>
            <p:ph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