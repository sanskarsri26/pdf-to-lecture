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000000"/>
                </a:solidFill>
              </a:defRPr>
            </a:pPr>
            <a:r>
              <a:t>Nondeterminism by Analogy</a:t>
            </a:r>
          </a:p>
        </p:txBody>
      </p:sp>
      <p:sp>
        <p:nvSpPr>
          <p:cNvPr id="3" name="Content Placeholder 2"/>
          <p:cNvSpPr>
            <a:spLocks noGrp="1"/>
          </p:cNvSpPr>
          <p:nvPr>
            <p:ph idx="1"/>
          </p:nvPr>
        </p:nvSpPr>
        <p:spPr/>
        <p:txBody>
          <a:bodyPr/>
          <a:lstStyle/>
          <a:p>
            <a:pPr>
              <a:spcBef>
                <a:spcPts val="1200"/>
              </a:spcBef>
              <a:spcAft>
                <a:spcPts val="1200"/>
              </a:spcAft>
              <a:defRPr sz="2000">
                <a:solidFill>
                  <a:srgbClr val="000000"/>
                </a:solidFill>
              </a:defRPr>
            </a:pPr>
            <a:r>
              <a:t>This lecture explores the concept of nondeterminism through relatable analogies.  Nondeterminism, in its simplest form, describes systems where the next state isn't solely determined by the current state; multiple possibilities exist.  Unlike a deterministic system (like a clock, where each tick follows predictably from the last), a nondeterministic system incorporates chance, choice, or unknown factors. We'll examine how this plays out in navigating a maze, internet routing, and chess strategy, to illustrate the practical implications of this seemingly abstract concept.  This understanding is crucial in various fields, including computer science and artificial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000000"/>
                </a:solidFill>
              </a:defRPr>
            </a:pPr>
            <a:r>
              <a:t>Lecture Outline: Understanding Nondeterminism</a:t>
            </a:r>
          </a:p>
        </p:txBody>
      </p:sp>
      <p:sp>
        <p:nvSpPr>
          <p:cNvPr id="3" name="Content Placeholder 2"/>
          <p:cNvSpPr>
            <a:spLocks noGrp="1"/>
          </p:cNvSpPr>
          <p:nvPr>
            <p:ph idx="1"/>
          </p:nvPr>
        </p:nvSpPr>
        <p:spPr/>
        <p:txBody>
          <a:bodyPr/>
          <a:lstStyle/>
          <a:p>
            <a:pPr>
              <a:spcBef>
                <a:spcPts val="1200"/>
              </a:spcBef>
              <a:spcAft>
                <a:spcPts val="1200"/>
              </a:spcAft>
              <a:defRPr sz="2000">
                <a:solidFill>
                  <a:srgbClr val="000000"/>
                </a:solidFill>
              </a:defRPr>
            </a:pPr>
            <a:r>
              <a:t>Today's lecture aims to demystify the concept of nondeterminism using three easily understood analogies:  First, we'll explore navigating a maze, contrasting deterministic (always left) and nondeterministic (exploring all paths) approaches.  Second, we'll analyze how internet packet routing operates, highlighting the inherent nondeterministic nature of the process. Finally, we'll dissect the complexities of chess strategy, demonstrating how nondeterministic models help us anticipate and plan for our opponent's unpredictable moves. We'll conclude by briefly discussing the real-world implications and the significance of nondeterminism in theoretical computer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000000"/>
                </a:solidFill>
              </a:defRPr>
            </a:pPr>
            <a:r>
              <a:t>Deterministic Maze Navigation</a:t>
            </a:r>
          </a:p>
        </p:txBody>
      </p:sp>
      <p:sp>
        <p:nvSpPr>
          <p:cNvPr id="3" name="Content Placeholder 2"/>
          <p:cNvSpPr>
            <a:spLocks noGrp="1"/>
          </p:cNvSpPr>
          <p:nvPr>
            <p:ph idx="1"/>
          </p:nvPr>
        </p:nvSpPr>
        <p:spPr/>
        <p:txBody>
          <a:bodyPr/>
          <a:lstStyle/>
          <a:p>
            <a:pPr>
              <a:spcBef>
                <a:spcPts val="1200"/>
              </a:spcBef>
              <a:spcAft>
                <a:spcPts val="1200"/>
              </a:spcAft>
              <a:defRPr sz="2000">
                <a:solidFill>
                  <a:srgbClr val="000000"/>
                </a:solidFill>
              </a:defRPr>
            </a:pPr>
            <a:r>
              <a:t>Let's consider a deterministic strategy for navigating a maze:  "always choose the leftmost path." This is a defined rule with a guaranteed outcome for any given maze.  However, this strategy's success is entirely dependent on the maze's structure.  One maze might be unsolvable using this rule (Maze 1), while another (Maze 2) might be solved with ease.  Determinism focuses on guaranteed outcomes based on specific rules, leaving no room for alternative paths or unexpected events. This approach works best in scenarios with perfectly known conditions.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000000"/>
                </a:solidFill>
              </a:defRPr>
            </a:pPr>
            <a:r>
              <a:t>Nondeterministic Maze Navigation</a:t>
            </a:r>
          </a:p>
        </p:txBody>
      </p:sp>
      <p:sp>
        <p:nvSpPr>
          <p:cNvPr id="3" name="Content Placeholder 2"/>
          <p:cNvSpPr>
            <a:spLocks noGrp="1"/>
          </p:cNvSpPr>
          <p:nvPr>
            <p:ph idx="1"/>
          </p:nvPr>
        </p:nvSpPr>
        <p:spPr/>
        <p:txBody>
          <a:bodyPr/>
          <a:lstStyle/>
          <a:p>
            <a:pPr>
              <a:spcBef>
                <a:spcPts val="1200"/>
              </a:spcBef>
              <a:spcAft>
                <a:spcPts val="1200"/>
              </a:spcAft>
              <a:defRPr sz="2000">
                <a:solidFill>
                  <a:srgbClr val="000000"/>
                </a:solidFill>
              </a:defRPr>
            </a:pPr>
            <a:r>
              <a:t>A nondeterministic approach considers all possible paths simultaneously. In a nondeterministic maze-solving algorithm, we don’t commit to a single path. Instead, we conceptually explore every possible path until we find the exit or determine that none exists.  This approach elegantly addresses the solvability of a maze regardless of the navigation strategy.  It answers the question of "is there a solution?" rather than "does this specific strategy find a solution?".  This highlights the core difference: determinism focuses on the method, while nondeterminism focuses on the existence of a 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000000"/>
                </a:solidFill>
              </a:defRPr>
            </a:pPr>
            <a:r>
              <a:t>Nondeterminism in Internet Packet Routing</a:t>
            </a:r>
          </a:p>
        </p:txBody>
      </p:sp>
      <p:sp>
        <p:nvSpPr>
          <p:cNvPr id="3" name="Content Placeholder 2"/>
          <p:cNvSpPr>
            <a:spLocks noGrp="1"/>
          </p:cNvSpPr>
          <p:nvPr>
            <p:ph idx="1"/>
          </p:nvPr>
        </p:nvSpPr>
        <p:spPr/>
        <p:txBody>
          <a:bodyPr/>
          <a:lstStyle/>
          <a:p>
            <a:pPr>
              <a:spcBef>
                <a:spcPts val="1200"/>
              </a:spcBef>
              <a:spcAft>
                <a:spcPts val="1200"/>
              </a:spcAft>
              <a:defRPr sz="2000">
                <a:solidFill>
                  <a:srgbClr val="000000"/>
                </a:solidFill>
              </a:defRPr>
            </a:pPr>
            <a:r>
              <a:t>Consider sending a data packet from your laptop to a web server.  The exact route isn't predetermined.  The packet traverses the network, hopping between routers, each making independent routing decisions based on various factors (network congestion, link failures, etc.).  This is inherently nondeterministic; many potential routes exist, and the chosen path depends on the dynamic state of the network at that moment.  Nondeterminism helps us model this inherent uncertainty and build robust systems that can handle unexpected network conditions.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000000"/>
                </a:solidFill>
              </a:defRPr>
            </a:pPr>
            <a:r>
              <a:t>Nondeterminism in Chess Strategy</a:t>
            </a:r>
          </a:p>
        </p:txBody>
      </p:sp>
      <p:sp>
        <p:nvSpPr>
          <p:cNvPr id="3" name="Content Placeholder 2"/>
          <p:cNvSpPr>
            <a:spLocks noGrp="1"/>
          </p:cNvSpPr>
          <p:nvPr>
            <p:ph idx="1"/>
          </p:nvPr>
        </p:nvSpPr>
        <p:spPr/>
        <p:txBody>
          <a:bodyPr/>
          <a:lstStyle/>
          <a:p>
            <a:pPr>
              <a:spcBef>
                <a:spcPts val="1200"/>
              </a:spcBef>
              <a:spcAft>
                <a:spcPts val="1200"/>
              </a:spcAft>
              <a:defRPr sz="2000">
                <a:solidFill>
                  <a:srgbClr val="000000"/>
                </a:solidFill>
              </a:defRPr>
            </a:pPr>
            <a:r>
              <a:t>In chess, predicting your opponent's moves is impossible with certainty.  A nondeterministic approach anticipates multiple possibilities, generating a "game tree" showcasing various potential sequences of moves. This allows you to analyze potential outcomes and select the move that maximizes your chances of success, even if your opponent makes unexpected choices.  This is a clear example of planning under uncertainty, which is fundamental in many game-theoretic scenarios and real-world decision-making.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000000"/>
                </a:solidFill>
              </a:defRPr>
            </a:pPr>
            <a:r>
              <a:t>The Importance of Nondeterminism</a:t>
            </a:r>
          </a:p>
        </p:txBody>
      </p:sp>
      <p:sp>
        <p:nvSpPr>
          <p:cNvPr id="3" name="Content Placeholder 2"/>
          <p:cNvSpPr>
            <a:spLocks noGrp="1"/>
          </p:cNvSpPr>
          <p:nvPr>
            <p:ph idx="1"/>
          </p:nvPr>
        </p:nvSpPr>
        <p:spPr/>
        <p:txBody>
          <a:bodyPr/>
          <a:lstStyle/>
          <a:p>
            <a:pPr>
              <a:spcBef>
                <a:spcPts val="1200"/>
              </a:spcBef>
              <a:spcAft>
                <a:spcPts val="1200"/>
              </a:spcAft>
              <a:defRPr sz="2000">
                <a:solidFill>
                  <a:srgbClr val="000000"/>
                </a:solidFill>
              </a:defRPr>
            </a:pPr>
            <a:r>
              <a:t>Nondeterminism is important in theoretical computer science for two key reasons:  Power: The ability to explore multiple possibilities simultaneously can lead to more efficient algorithms and the ability to solve problems intractable using purely deterministic approaches. Uncertainty: Modeling uncertainty allows us to design systems that can handle unexpected events and provide robust guarantees of correctness and security. Whether nondeterminism truly exists in the physical world is a deep philosophical question beyond this lecture's scope, but as a conceptual tool, it's invaluable for analyzing systems under incomplete information.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000000"/>
                </a:solidFill>
              </a:defRPr>
            </a:pPr>
            <a:r>
              <a:t>Summary and Acknowledgements</a:t>
            </a:r>
          </a:p>
        </p:txBody>
      </p:sp>
      <p:sp>
        <p:nvSpPr>
          <p:cNvPr id="3" name="Content Placeholder 2"/>
          <p:cNvSpPr>
            <a:spLocks noGrp="1"/>
          </p:cNvSpPr>
          <p:nvPr>
            <p:ph idx="1"/>
          </p:nvPr>
        </p:nvSpPr>
        <p:spPr/>
        <p:txBody>
          <a:bodyPr/>
          <a:lstStyle/>
          <a:p>
            <a:pPr>
              <a:spcBef>
                <a:spcPts val="1200"/>
              </a:spcBef>
              <a:spcAft>
                <a:spcPts val="1200"/>
              </a:spcAft>
              <a:defRPr sz="2000">
                <a:solidFill>
                  <a:srgbClr val="000000"/>
                </a:solidFill>
              </a:defRPr>
            </a:pPr>
            <a:r>
              <a:t>Today, we've explored the concept of nondeterminism through the lenses of maze navigation, internet routing, and chess strategy. These diverse examples highlight the power of nondeterministic models in handling uncertainty and exploring multiple possibilities. This perspective is crucial in designing robust and efficient systems. Special thanks are extended to Dr. Dave Ackley, Dr. Samuel Wein, Dr. Anna Latour, Nate Gaylinn, Ben Aveling, and Akshar Varma for their valuable contributions.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000000"/>
                </a:solidFill>
              </a:defRPr>
            </a:pPr>
            <a:r>
              <a:t>References</a:t>
            </a:r>
          </a:p>
        </p:txBody>
      </p:sp>
      <p:sp>
        <p:nvSpPr>
          <p:cNvPr id="3" name="Content Placeholder 2"/>
          <p:cNvSpPr>
            <a:spLocks noGrp="1"/>
          </p:cNvSpPr>
          <p:nvPr>
            <p:ph idx="1"/>
          </p:nvPr>
        </p:nvSpPr>
        <p:spPr/>
        <p:txBody>
          <a:bodyPr/>
          <a:lstStyle/>
          <a:p>
            <a:pPr>
              <a:spcBef>
                <a:spcPts val="1200"/>
              </a:spcBef>
              <a:spcAft>
                <a:spcPts val="1200"/>
              </a:spcAft>
              <a:defRPr sz="2000">
                <a:solidFill>
                  <a:srgbClr val="000000"/>
                </a:solidFill>
              </a:defRPr>
            </a:pPr>
            <a:r>
              <a:t>This slide lists the relevant sources used in the lecture, providing academic rigor and allowing the audience to explore further.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000000"/>
                </a:solidFill>
              </a:defRPr>
            </a:pPr>
            <a:r>
              <a:t>Thank You!</a:t>
            </a:r>
          </a:p>
        </p:txBody>
      </p:sp>
      <p:sp>
        <p:nvSpPr>
          <p:cNvPr id="3" name="Content Placeholder 2"/>
          <p:cNvSpPr>
            <a:spLocks noGrp="1"/>
          </p:cNvSpPr>
          <p:nvPr>
            <p:ph idx="1"/>
          </p:nvPr>
        </p:nvSpPr>
        <p:spPr/>
        <p:txBody>
          <a:bodyPr/>
          <a:lstStyle/>
          <a:p>
            <a:pPr>
              <a:spcBef>
                <a:spcPts val="1200"/>
              </a:spcBef>
              <a:spcAft>
                <a:spcPts val="1200"/>
              </a:spcAft>
              <a:defRPr sz="2000">
                <a:solidFill>
                  <a:srgbClr val="000000"/>
                </a:solidFill>
              </a:defRPr>
            </a:pPr>
            <a:r>
              <a:t>This slide serves as a closing statement, thanking the audience for their participation.</a:t>
            </a:r>
          </a:p>
          <a:p>
            <a:pPr>
              <a:spcBef>
                <a:spcPts val="1200"/>
              </a:spcBef>
              <a:spcAft>
                <a:spcPts val="1200"/>
              </a:spcAft>
              <a:defRPr sz="2000">
                <a:solidFill>
                  <a:srgbClr val="000000"/>
                </a:solidFill>
              </a:defRPr>
            </a:pPr>
          </a:p>
          <a:p>
            <a:pPr>
              <a:spcBef>
                <a:spcPts val="1200"/>
              </a:spcBef>
              <a:spcAft>
                <a:spcPts val="1200"/>
              </a:spcAft>
              <a:defRPr sz="2000">
                <a:solidFill>
                  <a:srgbClr val="000000"/>
                </a:solidFill>
              </a:defRPr>
            </a:pPr>
          </a:p>
          <a:p>
            <a:pPr>
              <a:spcBef>
                <a:spcPts val="1200"/>
              </a:spcBef>
              <a:spcAft>
                <a:spcPts val="1200"/>
              </a:spcAft>
              <a:defRPr sz="2000">
                <a:solidFill>
                  <a:srgbClr val="000000"/>
                </a:solidFill>
              </a:defRPr>
            </a:pPr>
            <a:r>
              <a:t>This expanded version provides a more thorough explanation of nondeterminism, linking the abstract concept to practical examples.  Each slide builds upon the previous one, creating a cohesive and informative lecture.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